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0cfc30d62a482b" /><Relationship Type="http://schemas.openxmlformats.org/officeDocument/2006/relationships/extended-properties" Target="/docProps/app.xml" Id="Rf176c4ba997d405c" /><Relationship Type="http://schemas.openxmlformats.org/officeDocument/2006/relationships/officeDocument" Target="/ppt/presentation.xml" Id="R40de343bf62e44dd" /></Relationships>
</file>

<file path=ppt/presentation.xml><?xml version="1.0" encoding="utf-8"?>
<p:presentation xmlns:p="http://schemas.openxmlformats.org/presentationml/2006/main">
  <p:sldMasterIdLst>
    <p:sldMasterId xmlns:r="http://schemas.openxmlformats.org/officeDocument/2006/relationships" id="2147483648" r:id="R9055a6d7ba224ea8"/>
  </p:sldMasterIdLst>
  <p:notesMasterIdLst>
    <p:notesMasterId xmlns:r="http://schemas.openxmlformats.org/officeDocument/2006/relationships" r:id="R40694421c1c94d12"/>
  </p:notesMasterIdLst>
  <p:sldIdLst>
    <p:sldId xmlns:r="http://schemas.openxmlformats.org/officeDocument/2006/relationships" id="256" r:id="R72e03dfdd905404c"/>
    <p:sldId xmlns:r="http://schemas.openxmlformats.org/officeDocument/2006/relationships" id="257" r:id="R1f3b448c635a467c"/>
    <p:sldId xmlns:r="http://schemas.openxmlformats.org/officeDocument/2006/relationships" id="258" r:id="R0cd22a9025854a3b"/>
    <p:sldId xmlns:r="http://schemas.openxmlformats.org/officeDocument/2006/relationships" id="259" r:id="R039f3572cecd4b79"/>
    <p:sldId xmlns:r="http://schemas.openxmlformats.org/officeDocument/2006/relationships" id="260" r:id="Raccaf810f37244f5"/>
    <p:sldId xmlns:r="http://schemas.openxmlformats.org/officeDocument/2006/relationships" id="261" r:id="R084ce300597a4f9e"/>
    <p:sldId xmlns:r="http://schemas.openxmlformats.org/officeDocument/2006/relationships" id="262" r:id="R8b435afcd5964198"/>
    <p:sldId xmlns:r="http://schemas.openxmlformats.org/officeDocument/2006/relationships" id="263" r:id="R5540a02e66e64c6d"/>
    <p:sldId xmlns:r="http://schemas.openxmlformats.org/officeDocument/2006/relationships" id="264" r:id="Rf9b5d7bf509148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4c8f41fa054765" /><Relationship Type="http://schemas.openxmlformats.org/officeDocument/2006/relationships/slideMaster" Target="/ppt/slideMasters/slideMaster1.xml" Id="R9055a6d7ba224ea8" /><Relationship Type="http://schemas.openxmlformats.org/officeDocument/2006/relationships/notesMaster" Target="/ppt/notesMasters/notesMaster1.xml" Id="R40694421c1c94d12" /><Relationship Type="http://schemas.openxmlformats.org/officeDocument/2006/relationships/presProps" Target="/ppt/presProps.xml" Id="R973698374c1940c2" /><Relationship Type="http://schemas.openxmlformats.org/officeDocument/2006/relationships/tableStyles" Target="/ppt/tableStyles.xml" Id="R107871afc6b64f26" /><Relationship Type="http://schemas.openxmlformats.org/officeDocument/2006/relationships/slide" Target="/ppt/slides/slide1.xml" Id="R72e03dfdd905404c" /><Relationship Type="http://schemas.openxmlformats.org/officeDocument/2006/relationships/slide" Target="/ppt/slides/slide2.xml" Id="R1f3b448c635a467c" /><Relationship Type="http://schemas.openxmlformats.org/officeDocument/2006/relationships/slide" Target="/ppt/slides/slide3.xml" Id="R0cd22a9025854a3b" /><Relationship Type="http://schemas.openxmlformats.org/officeDocument/2006/relationships/slide" Target="/ppt/slides/slide4.xml" Id="R039f3572cecd4b79" /><Relationship Type="http://schemas.openxmlformats.org/officeDocument/2006/relationships/slide" Target="/ppt/slides/slide5.xml" Id="Raccaf810f37244f5" /><Relationship Type="http://schemas.openxmlformats.org/officeDocument/2006/relationships/slide" Target="/ppt/slides/slide6.xml" Id="R084ce300597a4f9e" /><Relationship Type="http://schemas.openxmlformats.org/officeDocument/2006/relationships/slide" Target="/ppt/slides/slide7.xml" Id="R8b435afcd5964198" /><Relationship Type="http://schemas.openxmlformats.org/officeDocument/2006/relationships/slide" Target="/ppt/slides/slide8.xml" Id="R5540a02e66e64c6d" /><Relationship Type="http://schemas.openxmlformats.org/officeDocument/2006/relationships/slide" Target="/ppt/slides/slide9.xml" Id="Rf9b5d7bf509148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3d9b08e47047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6486fee4cb4930" /><Relationship Type="http://schemas.openxmlformats.org/officeDocument/2006/relationships/notesMaster" Target="/ppt/notesMasters/notesMaster1.xml" Id="Read655d6cfe94f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ed38021d9e48da" /><Relationship Type="http://schemas.openxmlformats.org/officeDocument/2006/relationships/notesMaster" Target="/ppt/notesMasters/notesMaster1.xml" Id="R9ecf611c00834c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2785931d04406e" /><Relationship Type="http://schemas.openxmlformats.org/officeDocument/2006/relationships/notesMaster" Target="/ppt/notesMasters/notesMaster1.xml" Id="R105f60b819fc49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3476accf3d4bae" /><Relationship Type="http://schemas.openxmlformats.org/officeDocument/2006/relationships/notesMaster" Target="/ppt/notesMasters/notesMaster1.xml" Id="Rc87748c44b5647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8412e2d76a4d57" /><Relationship Type="http://schemas.openxmlformats.org/officeDocument/2006/relationships/notesMaster" Target="/ppt/notesMasters/notesMaster1.xml" Id="R9c1e640d730046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d0f01ae2de4294" /><Relationship Type="http://schemas.openxmlformats.org/officeDocument/2006/relationships/notesMaster" Target="/ppt/notesMasters/notesMaster1.xml" Id="R60b96bc856e04e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beeb18886c4ac1" /><Relationship Type="http://schemas.openxmlformats.org/officeDocument/2006/relationships/notesMaster" Target="/ppt/notesMasters/notesMaster1.xml" Id="R24f5ddab03eb41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d569413e7a45c8" /><Relationship Type="http://schemas.openxmlformats.org/officeDocument/2006/relationships/notesMaster" Target="/ppt/notesMasters/notesMaster1.xml" Id="Rca14600ede3740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7c4cbb2c1b47e7" /><Relationship Type="http://schemas.openxmlformats.org/officeDocument/2006/relationships/notesMaster" Target="/ppt/notesMasters/notesMaster1.xml" Id="R79f9c97fa05546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(35 сек). Режим: Partner product. Это прототип для руководителя дилерской площадки. Партнёрство с BYD Royal Motors не заключено. Мы проверяем гипотезу: видимость занятости места помогает диспетчеру быстрее найти свободное место и проверить препятствие. Источник фото: PKLot, Almeida et al. 2015, CC BY 4.0; https://web.inf.ufpr.br/luizoliveira/research-interests/pklot/. Фото не является площадкой партнёра.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0:35–1:00 (25 сек). Проблема — гипотеза, не результат интервью. Сейчас диспетчер может проверять площадку вручную или просматривать видео. Предлагаем сократить повторные проверки: камера даёт состояние каждого места и список проверок. Владелец процесса отвечает за время поиска и число ложных задач. Метрики до/после проверим только в пилоте.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1:00–3:00 (120 сек). Показать настоящее видео Freezy Traffic, LIFEOFVIDS, CC BY 3.0: https://commons.wikimedia.org/wiki/File:Freezy_Traffic.webm. Остановить и перемотать видео. Загрузить своё фото или MP4 H.264: поиск машин стартует автоматически без зон. Показать порог уверенности и детальный проход по фрагментам. Объяснить, что маленькие и перекрытые машины могут пропускаться. Для состояния пустых парковочных мест нужен отдельный режим зон. Экспортировать JSON. Связь с эффектом диспетчера ещё требует пилота.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3:00–3:50 (50 сек). Автомобили на фото и видео ищет готовый сторонний COCO-SSD Lite MobileNet v2 через TensorFlow.js. Мы не обучали этот детектор. Модель и код находятся на нашем сайте, кадры не отправляются на сервер. Детальный режим анализирует кадр и четыре фрагмента, объединяя рамки. Собственная MLP решает другую задачу: занятость заранее заданного места. 224 признака HOG и цвета, 48 ReLU, один sigmoid. Размеры: около18MB детектор и233KiB occupancy. 14 автоматических тестов проверяют логику и совместимость, а не точность детектора. Источники: https://github.com/tensorflow/tfjs-models/tree/master/coco-ssd; ml/train.py; dist/detector.js;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3:50–4:35 (45 сек). Эти метрики относятся только к собственной модели занятости заранее заданного места. Для детектора COCO-SSD мы не проводили benchmark точности. 72/18/27 кадров и 3931/1007/1511 мест. Дни съёмки не пересекаются. F1 99.29, FP0 FN11; не говорите о гарантии отсутствия false positive. Кадры и места коррелируют. Baseline всегда свободно выбран по train:48.58 на test. При 20/80 покрытие98.94 точность принятых99.67; без quality gate. В отдельном исключении камеры worst84.46 на UFPR04. Это ограничивает переносимость и обосновывает пилот. Источники: dist/data/evaluation.json; dist/data/cross-camera.json; docs/dataset-manifest.json.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4:35–5:10 (35 сек). В браузере Codex на Apple M5 наблюдали58–127ms на один запуск детектора. Это отдельные значения интерфейса, не benchmark и не p95. Время загрузки модели, декодирования и отрисовки вне таймера. Для модели занятости ранее13–19ms на100зон. Детектор может пропускать мелкие автомобили: в одном кадре PKLot сверху нашли лишь2машины. Поэтому автоматический режим не обещает полноту или точное число свободных парковочных мест. Видео Freezy Traffic подтверждает работающий inference, но не измеренную точность. Ночь, локальные камеры и стабильность24/7 не проверены. Источники: текущий UI, dist/detector.js,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5:10–6:10 (60 сек). Не выдавать расчет за ROI партнера. 80 проверок в день,1.5 минуты экономии,4доллара зачас,26 дней =208. Эксплуатационный резерв40:хостинг5,электричество5,сопровождение30; это допущения. При внедрении300 окупаемость1.79месяца. Уже существующие камера икомпьютер. Новое оборудование иинтеграция могут резко увеличить бюджет. Высвобождение времени не равно денежному потоку без изменения загрузки. На сайте все предположения редактируются.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6:10–6:40 (30 сек). Сегодня наш код повторить несложно. Не называем открытый датасет moat. Возможное будущее преимущество: согласованная локальная выборка ошибок, цикл проверки диспетчера и интеграция с конкретным процессом. Эти активы не созданы и потребуют пилота. Сейчас доказуемы работоспособность, собственная обученная модель и воспроизводимость.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6:40–7:00 (20 сек). День1-3: согласие, геометрия, разметка локальных изображений. День4-7: теневой режим, дневные и вечерние кадры, rain при наличии; вести baseline времени. День8-14: диспетчер с инструментом, независимая проверка. Цели:95%accepted accuracy при80%coverage,30% сокращения поиска; это цели. Завершить до7мин. В Q&amp;A открыть код features/predict, доказать отсутствие подачи labels в inference и объяснить84.5% на excludedcamera. Финальный сайт/репозиторий и commit см. docs/SUBMISSION.txt.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5d6b89ba764cd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03ea4fb7594c1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1c51b4c9254c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daf05225b634d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9a5e0e92a6946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c385f071c243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90CE19-E482-41E1-BFB1-DEB968203AA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6B25F70-B42C-404E-BFBD-351C4965DAB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12E6745-F992-4AC0-BFC7-BD3166D41B1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B42F68-E5CC-4DA6-A312-2A6C894E38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1F3004D-2D43-48F4-855C-A3A7EC2CDD8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7929EA2-D97C-4ABC-AE1C-83BD86E9E9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658F796-44E8-4B3E-94C6-C9710FB40C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57A09D9-46C5-4C75-A123-121C864DE39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228C73-0AF4-4F9B-9CC9-665FB1AE1A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878639D-513F-43AF-84F2-F90938F1A02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c4b0d3dc70408c" /><Relationship Type="http://schemas.openxmlformats.org/officeDocument/2006/relationships/slideLayout" Target="/ppt/slideLayouts/slideLayout1.xml" Id="R28d143152ac944ed" /><Relationship Type="http://schemas.openxmlformats.org/officeDocument/2006/relationships/slideLayout" Target="/ppt/slideLayouts/slideLayout2.xml" Id="Rab55383d16704261" /><Relationship Type="http://schemas.openxmlformats.org/officeDocument/2006/relationships/slideLayout" Target="/ppt/slideLayouts/slideLayout3.xml" Id="R00b2686bbd274ccc" /><Relationship Type="http://schemas.openxmlformats.org/officeDocument/2006/relationships/slideLayout" Target="/ppt/slideLayouts/slideLayout4.xml" Id="Radb09367e37f429c" /><Relationship Type="http://schemas.openxmlformats.org/officeDocument/2006/relationships/slideLayout" Target="/ppt/slideLayouts/slideLayout5.xml" Id="R6c1c63a413e44b66" /><Relationship Type="http://schemas.openxmlformats.org/officeDocument/2006/relationships/slideLayout" Target="/ppt/slideLayouts/slideLayout6.xml" Id="R9634b795d8ed40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d143152ac944ed"/>
    <p:sldLayoutId xmlns:r="http://schemas.openxmlformats.org/officeDocument/2006/relationships" id="2147483650" r:id="Rab55383d16704261"/>
    <p:sldLayoutId xmlns:r="http://schemas.openxmlformats.org/officeDocument/2006/relationships" id="2147483651" r:id="R00b2686bbd274ccc"/>
    <p:sldLayoutId xmlns:r="http://schemas.openxmlformats.org/officeDocument/2006/relationships" id="2147483652" r:id="Radb09367e37f429c"/>
    <p:sldLayoutId xmlns:r="http://schemas.openxmlformats.org/officeDocument/2006/relationships" id="2147483653" r:id="R6c1c63a413e44b66"/>
    <p:sldLayoutId xmlns:r="http://schemas.openxmlformats.org/officeDocument/2006/relationships" id="2147483654" r:id="R9634b795d8ed40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03c890de68441cd" /><Relationship Type="http://schemas.openxmlformats.org/officeDocument/2006/relationships/image" Target="/ppt/media/image.jpeg" Id="R8983a77cbf1d4b02" /><Relationship Type="http://schemas.openxmlformats.org/officeDocument/2006/relationships/notesSlide" Target="/ppt/notesSlides/notesSlide1.xml" Id="R7b6ac417e2f84e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694b2b466664156" /><Relationship Type="http://schemas.openxmlformats.org/officeDocument/2006/relationships/notesSlide" Target="/ppt/notesSlides/notesSlide2.xml" Id="R143b0cea91ea4d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3200f2361504b54" /><Relationship Type="http://schemas.openxmlformats.org/officeDocument/2006/relationships/image" Target="/ppt/media/image2.jpeg" Id="R4a9fb308ad6449d3" /><Relationship Type="http://schemas.openxmlformats.org/officeDocument/2006/relationships/notesSlide" Target="/ppt/notesSlides/notesSlide3.xml" Id="Rd2e46865629d4f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e747acce8b147e4" /><Relationship Type="http://schemas.openxmlformats.org/officeDocument/2006/relationships/notesSlide" Target="/ppt/notesSlides/notesSlide4.xml" Id="R7143d0a8411c4b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e521f7753b044a5" /><Relationship Type="http://schemas.openxmlformats.org/officeDocument/2006/relationships/notesSlide" Target="/ppt/notesSlides/notesSlide5.xml" Id="Rc388820e8ebe4e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fd9c9b2d7bc417d" /><Relationship Type="http://schemas.openxmlformats.org/officeDocument/2006/relationships/notesSlide" Target="/ppt/notesSlides/notesSlide6.xml" Id="R4168c1bd44114d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705137da3bf4e6c" /><Relationship Type="http://schemas.openxmlformats.org/officeDocument/2006/relationships/notesSlide" Target="/ppt/notesSlides/notesSlide7.xml" Id="Rbc1db7fd4f4e4c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b6113ed607b4d54" /><Relationship Type="http://schemas.openxmlformats.org/officeDocument/2006/relationships/notesSlide" Target="/ppt/notesSlides/notesSlide8.xml" Id="R65ac59e8bd2841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bafebfb4aa64961" /><Relationship Type="http://schemas.openxmlformats.org/officeDocument/2006/relationships/notesSlide" Target="/ppt/notesSlides/notesSlide9.xml" Id="R3fc76e4573b844e0" /></Relationships>
</file>

<file path=ppt/slides/slide1.xml><?xml version="1.0" encoding="utf-8"?>
<p:sld xmlns:p="http://schemas.openxmlformats.org/presentationml/2006/main">
  <p:cSld>
    <p:bg>
      <p:bgPr>
        <a:solidFill xmlns:a="http://schemas.openxmlformats.org/drawingml/2006/main">
          <a:srgbClr val="1638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8F9362F-4E09-41F8-9D92-9B308CB11915}"/>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35554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EDE6E6A-21F2-4007-837F-73DD31407E80}"/>
              </a:ext>
            </a:extLst>
          </p:cNvPr>
          <p:cNvSpPr>
            <a:spLocks xmlns:a="http://schemas.openxmlformats.org/drawingml/2006/main" noGrp="1"/>
          </p:cNvSpPr>
          <p:nvPr/>
        </p:nvSpPr>
        <p:spPr>
          <a:xfrm xmlns:a="http://schemas.openxmlformats.org/drawingml/2006/main">
            <a:off x="609600" y="6429375"/>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1">
                <a:solidFill>
                  <a:srgbClr val="B5C8B9"/>
                </a:solidFill>
                <a:latin typeface="Helvetica Neue"/>
                <a:ea typeface="Helvetica Neue"/>
                <a:cs typeface="Helvetica Neue"/>
              </a:defRPr>
            </a:defPPr>
          </a:lstStyle>
          <a:p xmlns:a="http://schemas.openxmlformats.org/drawingml/2006/main">
            <a:pPr>
              <a:defRPr sz="900" b="1">
                <a:solidFill>
                  <a:srgbClr val="B5C8B9"/>
                </a:solidFill>
                <a:latin typeface="Helvetica Neue"/>
                <a:ea typeface="Helvetica Neue"/>
                <a:cs typeface="Helvetica Neue"/>
              </a:defRPr>
            </a:pPr>
            <a:r>
              <a:rPr sz="900" b="1">
                <a:solidFill>
                  <a:srgbClr val="B5C8B9"/>
                </a:solidFill>
                <a:latin typeface="Helvetica Neue"/>
                <a:ea typeface="Helvetica Neue"/>
                <a:cs typeface="Helvetica Neue"/>
              </a:rPr>
              <a:t>BAYWATCH</a:t>
            </a:r>
          </a:p>
        </p:txBody>
      </p:sp>
      <p:sp>
        <p:nvSpPr>
          <p:cNvPr id="3" name="">
            <a:extLst xmlns:a="http://schemas.openxmlformats.org/drawingml/2006/main">
              <a:ext uri="{FF2B5EF4-FFF2-40B4-BE49-F238E27FC236}">
                <a16:creationId xmlns:a16="http://schemas.microsoft.com/office/drawing/2014/main" id="{F0A46C68-7E0D-4FF2-9149-A858D74CCAB5}"/>
              </a:ext>
            </a:extLst>
          </p:cNvPr>
          <p:cNvSpPr>
            <a:spLocks xmlns:a="http://schemas.openxmlformats.org/drawingml/2006/main" noGrp="1"/>
          </p:cNvSpPr>
          <p:nvPr/>
        </p:nvSpPr>
        <p:spPr>
          <a:xfrm xmlns:a="http://schemas.openxmlformats.org/drawingml/2006/main">
            <a:off x="11029950" y="642937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5C8B9"/>
                </a:solidFill>
                <a:latin typeface="Helvetica Neue"/>
                <a:ea typeface="Helvetica Neue"/>
                <a:cs typeface="Helvetica Neue"/>
              </a:defRPr>
            </a:defPPr>
          </a:lstStyle>
          <a:p xmlns:a="http://schemas.openxmlformats.org/drawingml/2006/main">
            <a:pPr>
              <a:defRPr sz="900" b="0">
                <a:solidFill>
                  <a:srgbClr val="B5C8B9"/>
                </a:solidFill>
                <a:latin typeface="Helvetica Neue"/>
                <a:ea typeface="Helvetica Neue"/>
                <a:cs typeface="Helvetica Neue"/>
              </a:defRPr>
            </a:pPr>
            <a:r>
              <a:rPr sz="900" b="0">
                <a:solidFill>
                  <a:srgbClr val="B5C8B9"/>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7C6B032B-0910-47F9-8FE4-5B1220A858D7}"/>
              </a:ext>
            </a:extLst>
          </p:cNvPr>
          <p:cNvSpPr>
            <a:spLocks xmlns:a="http://schemas.openxmlformats.org/drawingml/2006/main" noGrp="1"/>
          </p:cNvSpPr>
          <p:nvPr/>
        </p:nvSpPr>
        <p:spPr>
          <a:xfrm xmlns:a="http://schemas.openxmlformats.org/drawingml/2006/main">
            <a:off x="609600" y="552450"/>
            <a:ext cx="723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D4EF86"/>
                </a:solidFill>
                <a:latin typeface="Helvetica Neue"/>
                <a:ea typeface="Helvetica Neue"/>
                <a:cs typeface="Helvetica Neue"/>
              </a:defRPr>
            </a:defPPr>
          </a:lstStyle>
          <a:p xmlns:a="http://schemas.openxmlformats.org/drawingml/2006/main">
            <a:pPr>
              <a:defRPr sz="1275" b="1">
                <a:solidFill>
                  <a:srgbClr val="D4EF86"/>
                </a:solidFill>
                <a:latin typeface="Helvetica Neue"/>
                <a:ea typeface="Helvetica Neue"/>
                <a:cs typeface="Helvetica Neue"/>
              </a:defRPr>
            </a:pPr>
            <a:r>
              <a:rPr sz="1275" b="1">
                <a:solidFill>
                  <a:srgbClr val="D4EF86"/>
                </a:solidFill>
                <a:latin typeface="Helvetica Neue"/>
                <a:ea typeface="Helvetica Neue"/>
                <a:cs typeface="Helvetica Neue"/>
              </a:rPr>
              <a:t>PARTNER PRODUCT · ПРЕДЛОЖЕНИЕ ПИЛОТА</a:t>
            </a:r>
          </a:p>
        </p:txBody>
      </p:sp>
      <p:sp>
        <p:nvSpPr>
          <p:cNvPr id="5" name="">
            <a:extLst xmlns:a="http://schemas.openxmlformats.org/drawingml/2006/main">
              <a:ext uri="{FF2B5EF4-FFF2-40B4-BE49-F238E27FC236}">
                <a16:creationId xmlns:a16="http://schemas.microsoft.com/office/drawing/2014/main" id="{57DBF477-AB55-4161-B4CE-6696603205C0}"/>
              </a:ext>
            </a:extLst>
          </p:cNvPr>
          <p:cNvSpPr>
            <a:spLocks xmlns:a="http://schemas.openxmlformats.org/drawingml/2006/main" noGrp="1"/>
          </p:cNvSpPr>
          <p:nvPr/>
        </p:nvSpPr>
        <p:spPr>
          <a:xfrm xmlns:a="http://schemas.openxmlformats.org/drawingml/2006/main">
            <a:off x="609600" y="1323975"/>
            <a:ext cx="714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900" b="1">
                <a:solidFill>
                  <a:srgbClr val="FFFFFF"/>
                </a:solidFill>
                <a:latin typeface="Helvetica Neue"/>
                <a:ea typeface="Helvetica Neue"/>
                <a:cs typeface="Helvetica Neue"/>
              </a:defRPr>
            </a:defPPr>
          </a:lstStyle>
          <a:p xmlns:a="http://schemas.openxmlformats.org/drawingml/2006/main">
            <a:pPr>
              <a:defRPr sz="6900" b="1">
                <a:solidFill>
                  <a:srgbClr val="FFFFFF"/>
                </a:solidFill>
                <a:latin typeface="Helvetica Neue"/>
                <a:ea typeface="Helvetica Neue"/>
                <a:cs typeface="Helvetica Neue"/>
              </a:defRPr>
            </a:pPr>
            <a:r>
              <a:rPr sz="6900" b="1">
                <a:solidFill>
                  <a:srgbClr val="FFFFFF"/>
                </a:solidFill>
                <a:latin typeface="Helvetica Neue"/>
                <a:ea typeface="Helvetica Neue"/>
                <a:cs typeface="Helvetica Neue"/>
              </a:rPr>
              <a:t>BayWatch</a:t>
            </a:r>
          </a:p>
        </p:txBody>
      </p:sp>
      <p:sp>
        <p:nvSpPr>
          <p:cNvPr id="6" name="">
            <a:extLst xmlns:a="http://schemas.openxmlformats.org/drawingml/2006/main">
              <a:ext uri="{FF2B5EF4-FFF2-40B4-BE49-F238E27FC236}">
                <a16:creationId xmlns:a16="http://schemas.microsoft.com/office/drawing/2014/main" id="{104E0592-2BF7-4706-A606-DE2CF1179962}"/>
              </a:ext>
            </a:extLst>
          </p:cNvPr>
          <p:cNvSpPr>
            <a:spLocks xmlns:a="http://schemas.openxmlformats.org/drawingml/2006/main" noGrp="1"/>
          </p:cNvSpPr>
          <p:nvPr/>
        </p:nvSpPr>
        <p:spPr>
          <a:xfrm xmlns:a="http://schemas.openxmlformats.org/drawingml/2006/main">
            <a:off x="647700" y="2600325"/>
            <a:ext cx="5905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FFFFFF"/>
                </a:solidFill>
                <a:latin typeface="Helvetica Neue"/>
                <a:ea typeface="Helvetica Neue"/>
                <a:cs typeface="Helvetica Neue"/>
              </a:defRPr>
            </a:defPPr>
          </a:lstStyle>
          <a:p xmlns:a="http://schemas.openxmlformats.org/drawingml/2006/main">
            <a:pPr>
              <a:defRPr sz="3225" b="0">
                <a:solidFill>
                  <a:srgbClr val="FFFFFF"/>
                </a:solidFill>
                <a:latin typeface="Helvetica Neue"/>
                <a:ea typeface="Helvetica Neue"/>
                <a:cs typeface="Helvetica Neue"/>
              </a:defRPr>
            </a:pPr>
            <a:r>
              <a:rPr sz="3225" b="0">
                <a:solidFill>
                  <a:srgbClr val="FFFFFF"/>
                </a:solidFill>
                <a:latin typeface="Helvetica Neue"/>
                <a:ea typeface="Helvetica Neue"/>
                <a:cs typeface="Helvetica Neue"/>
              </a:rPr>
              <a:t>Занятость места →</a:t>
            </a:r>
          </a:p>
          <a:p xmlns:a="http://schemas.openxmlformats.org/drawingml/2006/main">
            <a:pPr>
              <a:defRPr sz="3225" b="0">
                <a:solidFill>
                  <a:srgbClr val="FFFFFF"/>
                </a:solidFill>
                <a:latin typeface="Helvetica Neue"/>
                <a:ea typeface="Helvetica Neue"/>
                <a:cs typeface="Helvetica Neue"/>
              </a:defRPr>
            </a:pPr>
            <a:r>
              <a:rPr sz="3225" b="0">
                <a:solidFill>
                  <a:srgbClr val="FFFFFF"/>
                </a:solidFill>
                <a:latin typeface="Helvetica Neue"/>
                <a:ea typeface="Helvetica Neue"/>
                <a:cs typeface="Helvetica Neue"/>
              </a:rPr>
              <a:t>действие диспетчера</a:t>
            </a:r>
          </a:p>
        </p:txBody>
      </p:sp>
      <p:sp>
        <p:nvSpPr>
          <p:cNvPr id="7" name="">
            <a:extLst xmlns:a="http://schemas.openxmlformats.org/drawingml/2006/main">
              <a:ext uri="{FF2B5EF4-FFF2-40B4-BE49-F238E27FC236}">
                <a16:creationId xmlns:a16="http://schemas.microsoft.com/office/drawing/2014/main" id="{7948A5CC-8655-4901-BC66-F0CD92376A7F}"/>
              </a:ext>
            </a:extLst>
          </p:cNvPr>
          <p:cNvSpPr>
            <a:spLocks xmlns:a="http://schemas.openxmlformats.org/drawingml/2006/main" noGrp="1"/>
          </p:cNvSpPr>
          <p:nvPr/>
        </p:nvSpPr>
        <p:spPr>
          <a:xfrm xmlns:a="http://schemas.openxmlformats.org/drawingml/2006/main">
            <a:off x="647700" y="4410075"/>
            <a:ext cx="590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FD0C1"/>
                </a:solidFill>
                <a:latin typeface="Helvetica Neue"/>
                <a:ea typeface="Helvetica Neue"/>
                <a:cs typeface="Helvetica Neue"/>
              </a:defRPr>
            </a:defPPr>
          </a:lstStyle>
          <a:p xmlns:a="http://schemas.openxmlformats.org/drawingml/2006/main">
            <a:pPr>
              <a:defRPr sz="1875" b="0">
                <a:solidFill>
                  <a:srgbClr val="BFD0C1"/>
                </a:solidFill>
                <a:latin typeface="Helvetica Neue"/>
                <a:ea typeface="Helvetica Neue"/>
                <a:cs typeface="Helvetica Neue"/>
              </a:defRPr>
            </a:pPr>
            <a:r>
              <a:rPr sz="1875" b="0">
                <a:solidFill>
                  <a:srgbClr val="BFD0C1"/>
                </a:solidFill>
                <a:latin typeface="Helvetica Neue"/>
                <a:ea typeface="Helvetica Neue"/>
                <a:cs typeface="Helvetica Neue"/>
              </a:rPr>
              <a:t>Потенциальный владелец процесса:</a:t>
            </a:r>
          </a:p>
          <a:p xmlns:a="http://schemas.openxmlformats.org/drawingml/2006/main">
            <a:pPr>
              <a:defRPr sz="1875" b="0">
                <a:solidFill>
                  <a:srgbClr val="BFD0C1"/>
                </a:solidFill>
                <a:latin typeface="Helvetica Neue"/>
                <a:ea typeface="Helvetica Neue"/>
                <a:cs typeface="Helvetica Neue"/>
              </a:defRPr>
            </a:pPr>
            <a:r>
              <a:rPr sz="1875" b="0">
                <a:solidFill>
                  <a:srgbClr val="BFD0C1"/>
                </a:solidFill>
                <a:latin typeface="Helvetica Neue"/>
                <a:ea typeface="Helvetica Neue"/>
                <a:cs typeface="Helvetica Neue"/>
              </a:rPr>
              <a:t>руководитель площадки BYD Royal Motors</a:t>
            </a:r>
          </a:p>
        </p:txBody>
      </p:sp>
      <p:sp>
        <p:nvSpPr>
          <p:cNvPr id="8" name="">
            <a:extLst xmlns:a="http://schemas.openxmlformats.org/drawingml/2006/main">
              <a:ext uri="{FF2B5EF4-FFF2-40B4-BE49-F238E27FC236}">
                <a16:creationId xmlns:a16="http://schemas.microsoft.com/office/drawing/2014/main" id="{9EF594D8-99CD-4301-9C23-A46BE2F339FA}"/>
              </a:ext>
            </a:extLst>
          </p:cNvPr>
          <p:cNvSpPr>
            <a:spLocks xmlns:a="http://schemas.openxmlformats.org/drawingml/2006/main" noGrp="1"/>
          </p:cNvSpPr>
          <p:nvPr/>
        </p:nvSpPr>
        <p:spPr>
          <a:xfrm xmlns:a="http://schemas.openxmlformats.org/drawingml/2006/main">
            <a:off x="647700" y="5505450"/>
            <a:ext cx="5953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90AC99"/>
                </a:solidFill>
                <a:latin typeface="Helvetica Neue"/>
                <a:ea typeface="Helvetica Neue"/>
                <a:cs typeface="Helvetica Neue"/>
              </a:defRPr>
            </a:defPPr>
          </a:lstStyle>
          <a:p xmlns:a="http://schemas.openxmlformats.org/drawingml/2006/main">
            <a:pPr>
              <a:defRPr sz="1275" b="0">
                <a:solidFill>
                  <a:srgbClr val="90AC99"/>
                </a:solidFill>
                <a:latin typeface="Helvetica Neue"/>
                <a:ea typeface="Helvetica Neue"/>
                <a:cs typeface="Helvetica Neue"/>
              </a:defRPr>
            </a:pPr>
            <a:r>
              <a:rPr sz="1275" b="0">
                <a:solidFill>
                  <a:srgbClr val="90AC99"/>
                </a:solidFill>
                <a:latin typeface="Helvetica Neue"/>
                <a:ea typeface="Helvetica Neue"/>
                <a:cs typeface="Helvetica Neue"/>
              </a:rPr>
              <a:t>Партнёрство и эффект ещё не подтверждены</a:t>
            </a:r>
          </a:p>
        </p:txBody>
      </p:sp>
      <p:pic>
        <p:nvPicPr>
          <p:cNvPr id="9" name="">
            <a:extLst xmlns:a="http://schemas.openxmlformats.org/drawingml/2006/main">
              <a:ext uri="{FF2B5EF4-FFF2-40B4-BE49-F238E27FC236}">
                <a16:creationId xmlns:a16="http://schemas.microsoft.com/office/drawing/2014/main" id="{A908D9B7-CD24-4F23-A751-632A66A989AC}"/>
              </a:ext>
            </a:extLst>
          </p:cNvPr>
          <p:cNvPicPr>
            <a:picLocks xmlns:a="http://schemas.openxmlformats.org/drawingml/2006/main" noChangeAspect="1"/>
          </p:cNvPicPr>
          <p:nvPr/>
        </p:nvPicPr>
        <p:blipFill>
          <a:blip xmlns:r="http://schemas.openxmlformats.org/officeDocument/2006/relationships" xmlns:a="http://schemas.openxmlformats.org/drawingml/2006/main" r:embed="R8983a77cbf1d4b02"/>
          <a:stretch xmlns:a="http://schemas.openxmlformats.org/drawingml/2006/main"/>
        </p:blipFill>
        <p:spPr>
          <a:xfrm xmlns:a="http://schemas.openxmlformats.org/drawingml/2006/main">
            <a:off x="6943725" y="1891010"/>
            <a:ext cx="4638675" cy="260925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535A572-6DD3-4702-95C3-1118761678F5}"/>
              </a:ext>
            </a:extLst>
          </p:cNvPr>
          <p:cNvSpPr>
            <a:spLocks xmlns:a="http://schemas.openxmlformats.org/drawingml/2006/main" noGrp="1"/>
          </p:cNvSpPr>
          <p:nvPr/>
        </p:nvSpPr>
        <p:spPr>
          <a:xfrm xmlns:a="http://schemas.openxmlformats.org/drawingml/2006/main">
            <a:off x="7124700" y="4648200"/>
            <a:ext cx="4286250" cy="552450"/>
          </a:xfrm>
          <a:prstGeom xmlns:a="http://schemas.openxmlformats.org/drawingml/2006/main" prst="rect">
            <a:avLst/>
          </a:prstGeom>
          <a:solidFill xmlns:a="http://schemas.openxmlformats.org/drawingml/2006/main">
            <a:srgbClr val="D4EF8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2B29AA5-7DD6-4D27-B385-CA740DB70E0C}"/>
              </a:ext>
            </a:extLst>
          </p:cNvPr>
          <p:cNvSpPr>
            <a:spLocks xmlns:a="http://schemas.openxmlformats.org/drawingml/2006/main" noGrp="1"/>
          </p:cNvSpPr>
          <p:nvPr/>
        </p:nvSpPr>
        <p:spPr>
          <a:xfrm xmlns:a="http://schemas.openxmlformats.org/drawingml/2006/main">
            <a:off x="7258050" y="4772025"/>
            <a:ext cx="4010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16382B"/>
                </a:solidFill>
                <a:latin typeface="Helvetica Neue"/>
                <a:ea typeface="Helvetica Neue"/>
                <a:cs typeface="Helvetica Neue"/>
              </a:defRPr>
            </a:defPPr>
          </a:lstStyle>
          <a:p xmlns:a="http://schemas.openxmlformats.org/drawingml/2006/main">
            <a:pPr>
              <a:defRPr sz="1425" b="1">
                <a:solidFill>
                  <a:srgbClr val="16382B"/>
                </a:solidFill>
                <a:latin typeface="Helvetica Neue"/>
                <a:ea typeface="Helvetica Neue"/>
                <a:cs typeface="Helvetica Neue"/>
              </a:defRPr>
            </a:pPr>
            <a:r>
              <a:rPr sz="1425" b="1">
                <a:solidFill>
                  <a:srgbClr val="16382B"/>
                </a:solidFill>
                <a:latin typeface="Helvetica Neue"/>
                <a:ea typeface="Helvetica Neue"/>
                <a:cs typeface="Helvetica Neue"/>
              </a:rPr>
              <a:t>Распознавание работает в браузере</a:t>
            </a:r>
          </a:p>
        </p:txBody>
      </p:sp>
    </p:spTree>
    <p:extLst>
      <p:ext uri="{BB962C8B-B14F-4D97-AF65-F5344CB8AC3E}">
        <p14:creationId xmlns:p14="http://schemas.microsoft.com/office/powerpoint/2010/main" val="1946618895"/>
      </p:ext>
    </p:extLst>
  </p:cSld>
</p:sld>
</file>

<file path=ppt/slides/slide2.xml><?xml version="1.0" encoding="utf-8"?>
<p:sld xmlns:p="http://schemas.openxmlformats.org/presentationml/2006/main">
  <p:cSld>
    <p:bg>
      <p:bgPr>
        <a:solidFill xmlns:a="http://schemas.openxmlformats.org/drawingml/2006/main">
          <a:srgbClr val="F4F6F0"/>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BB1C5ED-BDBA-4C6C-A3DB-DBFE76919E8A}"/>
              </a:ext>
            </a:extLst>
          </p:cNvPr>
          <p:cNvSpPr>
            <a:spLocks xmlns:a="http://schemas.openxmlformats.org/drawingml/2006/main" noGrp="1"/>
          </p:cNvSpPr>
          <p:nvPr/>
        </p:nvSpPr>
        <p:spPr>
          <a:xfrm xmlns:a="http://schemas.openxmlformats.org/drawingml/2006/main">
            <a:off x="609600" y="5143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382B"/>
                </a:solidFill>
                <a:latin typeface="Helvetica Neue"/>
                <a:ea typeface="Helvetica Neue"/>
                <a:cs typeface="Helvetica Neue"/>
              </a:defRPr>
            </a:defPPr>
          </a:lstStyle>
          <a:p xmlns:a="http://schemas.openxmlformats.org/drawingml/2006/main">
            <a:pPr>
              <a:defRPr sz="3225" b="1">
                <a:solidFill>
                  <a:srgbClr val="16382B"/>
                </a:solidFill>
                <a:latin typeface="Helvetica Neue"/>
                <a:ea typeface="Helvetica Neue"/>
                <a:cs typeface="Helvetica Neue"/>
              </a:defRPr>
            </a:pPr>
            <a:r>
              <a:rPr sz="3225" b="1">
                <a:solidFill>
                  <a:srgbClr val="16382B"/>
                </a:solidFill>
                <a:latin typeface="Helvetica Neue"/>
                <a:ea typeface="Helvetica Neue"/>
                <a:cs typeface="Helvetica Neue"/>
              </a:rPr>
              <a:t>Диспетчеру нужно состояние места</a:t>
            </a:r>
          </a:p>
        </p:txBody>
      </p:sp>
      <p:sp>
        <p:nvSpPr>
          <p:cNvPr id="2" name="">
            <a:extLst xmlns:a="http://schemas.openxmlformats.org/drawingml/2006/main">
              <a:ext uri="{FF2B5EF4-FFF2-40B4-BE49-F238E27FC236}">
                <a16:creationId xmlns:a16="http://schemas.microsoft.com/office/drawing/2014/main" id="{D5C80BEC-8836-4053-AAAD-C4493C11045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DDE6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0616C3D-E8AF-4293-92A3-5EBC7CF8A977}"/>
              </a:ext>
            </a:extLst>
          </p:cNvPr>
          <p:cNvSpPr>
            <a:spLocks xmlns:a="http://schemas.openxmlformats.org/drawingml/2006/main" noGrp="1"/>
          </p:cNvSpPr>
          <p:nvPr/>
        </p:nvSpPr>
        <p:spPr>
          <a:xfrm xmlns:a="http://schemas.openxmlformats.org/drawingml/2006/main">
            <a:off x="609600" y="6429375"/>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1">
                <a:solidFill>
                  <a:srgbClr val="6F8076"/>
                </a:solidFill>
                <a:latin typeface="Helvetica Neue"/>
                <a:ea typeface="Helvetica Neue"/>
                <a:cs typeface="Helvetica Neue"/>
              </a:defRPr>
            </a:defPPr>
          </a:lstStyle>
          <a:p xmlns:a="http://schemas.openxmlformats.org/drawingml/2006/main">
            <a:pPr>
              <a:defRPr sz="900" b="1">
                <a:solidFill>
                  <a:srgbClr val="6F8076"/>
                </a:solidFill>
                <a:latin typeface="Helvetica Neue"/>
                <a:ea typeface="Helvetica Neue"/>
                <a:cs typeface="Helvetica Neue"/>
              </a:defRPr>
            </a:pPr>
            <a:r>
              <a:rPr sz="900" b="1">
                <a:solidFill>
                  <a:srgbClr val="6F8076"/>
                </a:solidFill>
                <a:latin typeface="Helvetica Neue"/>
                <a:ea typeface="Helvetica Neue"/>
                <a:cs typeface="Helvetica Neue"/>
              </a:rPr>
              <a:t>BAYWATCH</a:t>
            </a:r>
          </a:p>
        </p:txBody>
      </p:sp>
      <p:sp>
        <p:nvSpPr>
          <p:cNvPr id="4" name="">
            <a:extLst xmlns:a="http://schemas.openxmlformats.org/drawingml/2006/main">
              <a:ext uri="{FF2B5EF4-FFF2-40B4-BE49-F238E27FC236}">
                <a16:creationId xmlns:a16="http://schemas.microsoft.com/office/drawing/2014/main" id="{69B6AFEE-985E-4B2B-BEDC-B597713E1030}"/>
              </a:ext>
            </a:extLst>
          </p:cNvPr>
          <p:cNvSpPr>
            <a:spLocks xmlns:a="http://schemas.openxmlformats.org/drawingml/2006/main" noGrp="1"/>
          </p:cNvSpPr>
          <p:nvPr/>
        </p:nvSpPr>
        <p:spPr>
          <a:xfrm xmlns:a="http://schemas.openxmlformats.org/drawingml/2006/main">
            <a:off x="11029950" y="642937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F8076"/>
                </a:solidFill>
                <a:latin typeface="Helvetica Neue"/>
                <a:ea typeface="Helvetica Neue"/>
                <a:cs typeface="Helvetica Neue"/>
              </a:defRPr>
            </a:defPPr>
          </a:lstStyle>
          <a:p xmlns:a="http://schemas.openxmlformats.org/drawingml/2006/main">
            <a:pPr>
              <a:defRPr sz="900" b="0">
                <a:solidFill>
                  <a:srgbClr val="6F8076"/>
                </a:solidFill>
                <a:latin typeface="Helvetica Neue"/>
                <a:ea typeface="Helvetica Neue"/>
                <a:cs typeface="Helvetica Neue"/>
              </a:defRPr>
            </a:pPr>
            <a:r>
              <a:rPr sz="900" b="0">
                <a:solidFill>
                  <a:srgbClr val="6F8076"/>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552C8D69-BBB1-4EED-8FEC-931EE81CB85D}"/>
              </a:ext>
            </a:extLst>
          </p:cNvPr>
          <p:cNvSpPr>
            <a:spLocks xmlns:a="http://schemas.openxmlformats.org/drawingml/2006/main" noGrp="1"/>
          </p:cNvSpPr>
          <p:nvPr/>
        </p:nvSpPr>
        <p:spPr>
          <a:xfrm xmlns:a="http://schemas.openxmlformats.org/drawingml/2006/main">
            <a:off x="609600" y="2076450"/>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6664B"/>
                </a:solidFill>
                <a:latin typeface="Helvetica Neue"/>
                <a:ea typeface="Helvetica Neue"/>
                <a:cs typeface="Helvetica Neue"/>
              </a:defRPr>
            </a:defPPr>
          </a:lstStyle>
          <a:p xmlns:a="http://schemas.openxmlformats.org/drawingml/2006/main">
            <a:pPr>
              <a:defRPr sz="3000" b="1">
                <a:solidFill>
                  <a:srgbClr val="16664B"/>
                </a:solidFill>
                <a:latin typeface="Helvetica Neue"/>
                <a:ea typeface="Helvetica Neue"/>
                <a:cs typeface="Helvetica Neue"/>
              </a:defRPr>
            </a:pPr>
            <a:r>
              <a:rPr sz="3000" b="1">
                <a:solidFill>
                  <a:srgbClr val="16664B"/>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9653A1BF-BBD1-41B5-8550-0929E39F4C1D}"/>
              </a:ext>
            </a:extLst>
          </p:cNvPr>
          <p:cNvSpPr>
            <a:spLocks xmlns:a="http://schemas.openxmlformats.org/drawingml/2006/main" noGrp="1"/>
          </p:cNvSpPr>
          <p:nvPr/>
        </p:nvSpPr>
        <p:spPr>
          <a:xfrm xmlns:a="http://schemas.openxmlformats.org/drawingml/2006/main">
            <a:off x="609600" y="2771775"/>
            <a:ext cx="3286125" cy="28575"/>
          </a:xfrm>
          <a:prstGeom xmlns:a="http://schemas.openxmlformats.org/drawingml/2006/main" prst="rect">
            <a:avLst/>
          </a:prstGeom>
          <a:solidFill xmlns:a="http://schemas.openxmlformats.org/drawingml/2006/main">
            <a:srgbClr val="DDE6D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81B75C7-9710-45F5-86E5-2C6DB598DBFA}"/>
              </a:ext>
            </a:extLst>
          </p:cNvPr>
          <p:cNvSpPr>
            <a:spLocks xmlns:a="http://schemas.openxmlformats.org/drawingml/2006/main" noGrp="1"/>
          </p:cNvSpPr>
          <p:nvPr/>
        </p:nvSpPr>
        <p:spPr>
          <a:xfrm xmlns:a="http://schemas.openxmlformats.org/drawingml/2006/main">
            <a:off x="609600" y="30765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382B"/>
                </a:solidFill>
                <a:latin typeface="Helvetica Neue"/>
                <a:ea typeface="Helvetica Neue"/>
                <a:cs typeface="Helvetica Neue"/>
              </a:defRPr>
            </a:defPPr>
          </a:lstStyle>
          <a:p xmlns:a="http://schemas.openxmlformats.org/drawingml/2006/main">
            <a:pPr>
              <a:defRPr sz="2175" b="1">
                <a:solidFill>
                  <a:srgbClr val="16382B"/>
                </a:solidFill>
                <a:latin typeface="Helvetica Neue"/>
                <a:ea typeface="Helvetica Neue"/>
                <a:cs typeface="Helvetica Neue"/>
              </a:defRPr>
            </a:pPr>
            <a:r>
              <a:rPr sz="2175" b="1">
                <a:solidFill>
                  <a:srgbClr val="16382B"/>
                </a:solidFill>
                <a:latin typeface="Helvetica Neue"/>
                <a:ea typeface="Helvetica Neue"/>
                <a:cs typeface="Helvetica Neue"/>
              </a:rPr>
              <a:t>Посмотреть кадр</a:t>
            </a:r>
          </a:p>
        </p:txBody>
      </p:sp>
      <p:sp>
        <p:nvSpPr>
          <p:cNvPr id="8" name="">
            <a:extLst xmlns:a="http://schemas.openxmlformats.org/drawingml/2006/main">
              <a:ext uri="{FF2B5EF4-FFF2-40B4-BE49-F238E27FC236}">
                <a16:creationId xmlns:a16="http://schemas.microsoft.com/office/drawing/2014/main" id="{60041E03-A5EE-4179-A8EE-F05BE9ECEF48}"/>
              </a:ext>
            </a:extLst>
          </p:cNvPr>
          <p:cNvSpPr>
            <a:spLocks xmlns:a="http://schemas.openxmlformats.org/drawingml/2006/main" noGrp="1"/>
          </p:cNvSpPr>
          <p:nvPr/>
        </p:nvSpPr>
        <p:spPr>
          <a:xfrm xmlns:a="http://schemas.openxmlformats.org/drawingml/2006/main">
            <a:off x="609600" y="382905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F8076"/>
                </a:solidFill>
                <a:latin typeface="Helvetica Neue"/>
                <a:ea typeface="Helvetica Neue"/>
                <a:cs typeface="Helvetica Neue"/>
              </a:defRPr>
            </a:defPPr>
          </a:lstStyle>
          <a:p xmlns:a="http://schemas.openxmlformats.org/drawingml/2006/main">
            <a:pPr>
              <a:defRPr sz="1950" b="0">
                <a:solidFill>
                  <a:srgbClr val="6F8076"/>
                </a:solidFill>
                <a:latin typeface="Helvetica Neue"/>
                <a:ea typeface="Helvetica Neue"/>
                <a:cs typeface="Helvetica Neue"/>
              </a:defRPr>
            </a:pPr>
            <a:r>
              <a:rPr sz="1950" b="0">
                <a:solidFill>
                  <a:srgbClr val="6F8076"/>
                </a:solidFill>
                <a:latin typeface="Helvetica Neue"/>
                <a:ea typeface="Helvetica Neue"/>
                <a:cs typeface="Helvetica Neue"/>
              </a:rPr>
              <a:t>Фиксированная камера</a:t>
            </a:r>
          </a:p>
          <a:p xmlns:a="http://schemas.openxmlformats.org/drawingml/2006/main">
            <a:pPr>
              <a:defRPr sz="1950" b="0">
                <a:solidFill>
                  <a:srgbClr val="6F8076"/>
                </a:solidFill>
                <a:latin typeface="Helvetica Neue"/>
                <a:ea typeface="Helvetica Neue"/>
                <a:cs typeface="Helvetica Neue"/>
              </a:defRPr>
            </a:pPr>
            <a:r>
              <a:rPr sz="1950" b="0">
                <a:solidFill>
                  <a:srgbClr val="6F8076"/>
                </a:solidFill>
                <a:latin typeface="Helvetica Neue"/>
                <a:ea typeface="Helvetica Neue"/>
                <a:cs typeface="Helvetica Neue"/>
              </a:rPr>
              <a:t>и известные зоны</a:t>
            </a:r>
          </a:p>
        </p:txBody>
      </p:sp>
      <p:sp>
        <p:nvSpPr>
          <p:cNvPr id="9" name="">
            <a:extLst xmlns:a="http://schemas.openxmlformats.org/drawingml/2006/main">
              <a:ext uri="{FF2B5EF4-FFF2-40B4-BE49-F238E27FC236}">
                <a16:creationId xmlns:a16="http://schemas.microsoft.com/office/drawing/2014/main" id="{0E8A79D8-6AD0-455C-9418-74D0EA450881}"/>
              </a:ext>
            </a:extLst>
          </p:cNvPr>
          <p:cNvSpPr>
            <a:spLocks xmlns:a="http://schemas.openxmlformats.org/drawingml/2006/main" noGrp="1"/>
          </p:cNvSpPr>
          <p:nvPr/>
        </p:nvSpPr>
        <p:spPr>
          <a:xfrm xmlns:a="http://schemas.openxmlformats.org/drawingml/2006/main">
            <a:off x="4400550" y="2076450"/>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6664B"/>
                </a:solidFill>
                <a:latin typeface="Helvetica Neue"/>
                <a:ea typeface="Helvetica Neue"/>
                <a:cs typeface="Helvetica Neue"/>
              </a:defRPr>
            </a:defPPr>
          </a:lstStyle>
          <a:p xmlns:a="http://schemas.openxmlformats.org/drawingml/2006/main">
            <a:pPr>
              <a:defRPr sz="3000" b="1">
                <a:solidFill>
                  <a:srgbClr val="16664B"/>
                </a:solidFill>
                <a:latin typeface="Helvetica Neue"/>
                <a:ea typeface="Helvetica Neue"/>
                <a:cs typeface="Helvetica Neue"/>
              </a:defRPr>
            </a:pPr>
            <a:r>
              <a:rPr sz="3000" b="1">
                <a:solidFill>
                  <a:srgbClr val="16664B"/>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CE16BE88-A4AE-4D27-BB1C-7E5E648D202E}"/>
              </a:ext>
            </a:extLst>
          </p:cNvPr>
          <p:cNvSpPr>
            <a:spLocks xmlns:a="http://schemas.openxmlformats.org/drawingml/2006/main" noGrp="1"/>
          </p:cNvSpPr>
          <p:nvPr/>
        </p:nvSpPr>
        <p:spPr>
          <a:xfrm xmlns:a="http://schemas.openxmlformats.org/drawingml/2006/main">
            <a:off x="4400550" y="2771775"/>
            <a:ext cx="3286125" cy="28575"/>
          </a:xfrm>
          <a:prstGeom xmlns:a="http://schemas.openxmlformats.org/drawingml/2006/main" prst="rect">
            <a:avLst/>
          </a:prstGeom>
          <a:solidFill xmlns:a="http://schemas.openxmlformats.org/drawingml/2006/main">
            <a:srgbClr val="DDE6D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3C85B7F-F472-42FF-82B5-5298C4ECC2FF}"/>
              </a:ext>
            </a:extLst>
          </p:cNvPr>
          <p:cNvSpPr>
            <a:spLocks xmlns:a="http://schemas.openxmlformats.org/drawingml/2006/main" noGrp="1"/>
          </p:cNvSpPr>
          <p:nvPr/>
        </p:nvSpPr>
        <p:spPr>
          <a:xfrm xmlns:a="http://schemas.openxmlformats.org/drawingml/2006/main">
            <a:off x="4400550" y="30765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382B"/>
                </a:solidFill>
                <a:latin typeface="Helvetica Neue"/>
                <a:ea typeface="Helvetica Neue"/>
                <a:cs typeface="Helvetica Neue"/>
              </a:defRPr>
            </a:defPPr>
          </a:lstStyle>
          <a:p xmlns:a="http://schemas.openxmlformats.org/drawingml/2006/main">
            <a:pPr>
              <a:defRPr sz="2175" b="1">
                <a:solidFill>
                  <a:srgbClr val="16382B"/>
                </a:solidFill>
                <a:latin typeface="Helvetica Neue"/>
                <a:ea typeface="Helvetica Neue"/>
                <a:cs typeface="Helvetica Neue"/>
              </a:defRPr>
            </a:pPr>
            <a:r>
              <a:rPr sz="2175" b="1">
                <a:solidFill>
                  <a:srgbClr val="16382B"/>
                </a:solidFill>
                <a:latin typeface="Helvetica Neue"/>
                <a:ea typeface="Helvetica Neue"/>
                <a:cs typeface="Helvetica Neue"/>
              </a:rPr>
              <a:t>Принять решение</a:t>
            </a:r>
          </a:p>
        </p:txBody>
      </p:sp>
      <p:sp>
        <p:nvSpPr>
          <p:cNvPr id="12" name="">
            <a:extLst xmlns:a="http://schemas.openxmlformats.org/drawingml/2006/main">
              <a:ext uri="{FF2B5EF4-FFF2-40B4-BE49-F238E27FC236}">
                <a16:creationId xmlns:a16="http://schemas.microsoft.com/office/drawing/2014/main" id="{6057C7CA-FE92-4173-989E-12609ADD5510}"/>
              </a:ext>
            </a:extLst>
          </p:cNvPr>
          <p:cNvSpPr>
            <a:spLocks xmlns:a="http://schemas.openxmlformats.org/drawingml/2006/main" noGrp="1"/>
          </p:cNvSpPr>
          <p:nvPr/>
        </p:nvSpPr>
        <p:spPr>
          <a:xfrm xmlns:a="http://schemas.openxmlformats.org/drawingml/2006/main">
            <a:off x="4400550" y="382905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F8076"/>
                </a:solidFill>
                <a:latin typeface="Helvetica Neue"/>
                <a:ea typeface="Helvetica Neue"/>
                <a:cs typeface="Helvetica Neue"/>
              </a:defRPr>
            </a:defPPr>
          </a:lstStyle>
          <a:p xmlns:a="http://schemas.openxmlformats.org/drawingml/2006/main">
            <a:pPr>
              <a:defRPr sz="1950" b="0">
                <a:solidFill>
                  <a:srgbClr val="6F8076"/>
                </a:solidFill>
                <a:latin typeface="Helvetica Neue"/>
                <a:ea typeface="Helvetica Neue"/>
                <a:cs typeface="Helvetica Neue"/>
              </a:defRPr>
            </a:pPr>
            <a:r>
              <a:rPr sz="1950" b="0">
                <a:solidFill>
                  <a:srgbClr val="6F8076"/>
                </a:solidFill>
                <a:latin typeface="Helvetica Neue"/>
                <a:ea typeface="Helvetica Neue"/>
                <a:cs typeface="Helvetica Neue"/>
              </a:rPr>
              <a:t>Свободно, занято</a:t>
            </a:r>
          </a:p>
          <a:p xmlns:a="http://schemas.openxmlformats.org/drawingml/2006/main">
            <a:pPr>
              <a:defRPr sz="1950" b="0">
                <a:solidFill>
                  <a:srgbClr val="6F8076"/>
                </a:solidFill>
                <a:latin typeface="Helvetica Neue"/>
                <a:ea typeface="Helvetica Neue"/>
                <a:cs typeface="Helvetica Neue"/>
              </a:defRPr>
            </a:pPr>
            <a:r>
              <a:rPr sz="1950" b="0">
                <a:solidFill>
                  <a:srgbClr val="6F8076"/>
                </a:solidFill>
                <a:latin typeface="Helvetica Neue"/>
                <a:ea typeface="Helvetica Neue"/>
                <a:cs typeface="Helvetica Neue"/>
              </a:rPr>
              <a:t>или нужна проверка</a:t>
            </a:r>
          </a:p>
        </p:txBody>
      </p:sp>
      <p:sp>
        <p:nvSpPr>
          <p:cNvPr id="13" name="">
            <a:extLst xmlns:a="http://schemas.openxmlformats.org/drawingml/2006/main">
              <a:ext uri="{FF2B5EF4-FFF2-40B4-BE49-F238E27FC236}">
                <a16:creationId xmlns:a16="http://schemas.microsoft.com/office/drawing/2014/main" id="{7A5D7009-57F4-461B-9D01-2D80C5E5FFD5}"/>
              </a:ext>
            </a:extLst>
          </p:cNvPr>
          <p:cNvSpPr>
            <a:spLocks xmlns:a="http://schemas.openxmlformats.org/drawingml/2006/main" noGrp="1"/>
          </p:cNvSpPr>
          <p:nvPr/>
        </p:nvSpPr>
        <p:spPr>
          <a:xfrm xmlns:a="http://schemas.openxmlformats.org/drawingml/2006/main">
            <a:off x="8191500" y="2076450"/>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6664B"/>
                </a:solidFill>
                <a:latin typeface="Helvetica Neue"/>
                <a:ea typeface="Helvetica Neue"/>
                <a:cs typeface="Helvetica Neue"/>
              </a:defRPr>
            </a:defPPr>
          </a:lstStyle>
          <a:p xmlns:a="http://schemas.openxmlformats.org/drawingml/2006/main">
            <a:pPr>
              <a:defRPr sz="3000" b="1">
                <a:solidFill>
                  <a:srgbClr val="16664B"/>
                </a:solidFill>
                <a:latin typeface="Helvetica Neue"/>
                <a:ea typeface="Helvetica Neue"/>
                <a:cs typeface="Helvetica Neue"/>
              </a:defRPr>
            </a:pPr>
            <a:r>
              <a:rPr sz="3000" b="1">
                <a:solidFill>
                  <a:srgbClr val="16664B"/>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FDF7C550-006D-45A8-ABF4-4997C2891AF8}"/>
              </a:ext>
            </a:extLst>
          </p:cNvPr>
          <p:cNvSpPr>
            <a:spLocks xmlns:a="http://schemas.openxmlformats.org/drawingml/2006/main" noGrp="1"/>
          </p:cNvSpPr>
          <p:nvPr/>
        </p:nvSpPr>
        <p:spPr>
          <a:xfrm xmlns:a="http://schemas.openxmlformats.org/drawingml/2006/main">
            <a:off x="8191500" y="2771775"/>
            <a:ext cx="3286125" cy="28575"/>
          </a:xfrm>
          <a:prstGeom xmlns:a="http://schemas.openxmlformats.org/drawingml/2006/main" prst="rect">
            <a:avLst/>
          </a:prstGeom>
          <a:solidFill xmlns:a="http://schemas.openxmlformats.org/drawingml/2006/main">
            <a:srgbClr val="DDE6D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C9A9D58-E909-4A6B-BAEF-77CB4AE63729}"/>
              </a:ext>
            </a:extLst>
          </p:cNvPr>
          <p:cNvSpPr>
            <a:spLocks xmlns:a="http://schemas.openxmlformats.org/drawingml/2006/main" noGrp="1"/>
          </p:cNvSpPr>
          <p:nvPr/>
        </p:nvSpPr>
        <p:spPr>
          <a:xfrm xmlns:a="http://schemas.openxmlformats.org/drawingml/2006/main">
            <a:off x="8191500" y="30765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382B"/>
                </a:solidFill>
                <a:latin typeface="Helvetica Neue"/>
                <a:ea typeface="Helvetica Neue"/>
                <a:cs typeface="Helvetica Neue"/>
              </a:defRPr>
            </a:defPPr>
          </a:lstStyle>
          <a:p xmlns:a="http://schemas.openxmlformats.org/drawingml/2006/main">
            <a:pPr>
              <a:defRPr sz="2175" b="1">
                <a:solidFill>
                  <a:srgbClr val="16382B"/>
                </a:solidFill>
                <a:latin typeface="Helvetica Neue"/>
                <a:ea typeface="Helvetica Neue"/>
                <a:cs typeface="Helvetica Neue"/>
              </a:defRPr>
            </a:pPr>
            <a:r>
              <a:rPr sz="2175" b="1">
                <a:solidFill>
                  <a:srgbClr val="16382B"/>
                </a:solidFill>
                <a:latin typeface="Helvetica Neue"/>
                <a:ea typeface="Helvetica Neue"/>
                <a:cs typeface="Helvetica Neue"/>
              </a:rPr>
              <a:t>Выдать действие</a:t>
            </a:r>
          </a:p>
        </p:txBody>
      </p:sp>
      <p:sp>
        <p:nvSpPr>
          <p:cNvPr id="16" name="">
            <a:extLst xmlns:a="http://schemas.openxmlformats.org/drawingml/2006/main">
              <a:ext uri="{FF2B5EF4-FFF2-40B4-BE49-F238E27FC236}">
                <a16:creationId xmlns:a16="http://schemas.microsoft.com/office/drawing/2014/main" id="{2231E995-A8B5-4667-B10C-453A3558D14B}"/>
              </a:ext>
            </a:extLst>
          </p:cNvPr>
          <p:cNvSpPr>
            <a:spLocks xmlns:a="http://schemas.openxmlformats.org/drawingml/2006/main" noGrp="1"/>
          </p:cNvSpPr>
          <p:nvPr/>
        </p:nvSpPr>
        <p:spPr>
          <a:xfrm xmlns:a="http://schemas.openxmlformats.org/drawingml/2006/main">
            <a:off x="8191500" y="382905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F8076"/>
                </a:solidFill>
                <a:latin typeface="Helvetica Neue"/>
                <a:ea typeface="Helvetica Neue"/>
                <a:cs typeface="Helvetica Neue"/>
              </a:defRPr>
            </a:defPPr>
          </a:lstStyle>
          <a:p xmlns:a="http://schemas.openxmlformats.org/drawingml/2006/main">
            <a:pPr>
              <a:defRPr sz="1950" b="0">
                <a:solidFill>
                  <a:srgbClr val="6F8076"/>
                </a:solidFill>
                <a:latin typeface="Helvetica Neue"/>
                <a:ea typeface="Helvetica Neue"/>
                <a:cs typeface="Helvetica Neue"/>
              </a:defRPr>
            </a:pPr>
            <a:r>
              <a:rPr sz="1950" b="0">
                <a:solidFill>
                  <a:srgbClr val="6F8076"/>
                </a:solidFill>
                <a:latin typeface="Helvetica Neue"/>
                <a:ea typeface="Helvetica Neue"/>
                <a:cs typeface="Helvetica Neue"/>
              </a:rPr>
              <a:t>Проверить проезд</a:t>
            </a:r>
          </a:p>
          <a:p xmlns:a="http://schemas.openxmlformats.org/drawingml/2006/main">
            <a:pPr>
              <a:defRPr sz="1950" b="0">
                <a:solidFill>
                  <a:srgbClr val="6F8076"/>
                </a:solidFill>
                <a:latin typeface="Helvetica Neue"/>
                <a:ea typeface="Helvetica Neue"/>
                <a:cs typeface="Helvetica Neue"/>
              </a:defRPr>
            </a:pPr>
            <a:r>
              <a:rPr sz="1950" b="0">
                <a:solidFill>
                  <a:srgbClr val="6F8076"/>
                </a:solidFill>
                <a:latin typeface="Helvetica Neue"/>
                <a:ea typeface="Helvetica Neue"/>
                <a:cs typeface="Helvetica Neue"/>
              </a:rPr>
              <a:t>или долгую стоянку</a:t>
            </a:r>
          </a:p>
        </p:txBody>
      </p:sp>
      <p:sp>
        <p:nvSpPr>
          <p:cNvPr id="17" name="">
            <a:extLst xmlns:a="http://schemas.openxmlformats.org/drawingml/2006/main">
              <a:ext uri="{FF2B5EF4-FFF2-40B4-BE49-F238E27FC236}">
                <a16:creationId xmlns:a16="http://schemas.microsoft.com/office/drawing/2014/main" id="{1DDF3A9A-A2B9-4B58-9BF2-75C6A3957537}"/>
              </a:ext>
            </a:extLst>
          </p:cNvPr>
          <p:cNvSpPr>
            <a:spLocks xmlns:a="http://schemas.openxmlformats.org/drawingml/2006/main" noGrp="1"/>
          </p:cNvSpPr>
          <p:nvPr/>
        </p:nvSpPr>
        <p:spPr>
          <a:xfrm xmlns:a="http://schemas.openxmlformats.org/drawingml/2006/main">
            <a:off x="609600" y="54864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664B"/>
                </a:solidFill>
                <a:latin typeface="Helvetica Neue"/>
                <a:ea typeface="Helvetica Neue"/>
                <a:cs typeface="Helvetica Neue"/>
              </a:defRPr>
            </a:defPPr>
          </a:lstStyle>
          <a:p xmlns:a="http://schemas.openxmlformats.org/drawingml/2006/main">
            <a:pPr>
              <a:defRPr sz="1875" b="0">
                <a:solidFill>
                  <a:srgbClr val="16664B"/>
                </a:solidFill>
                <a:latin typeface="Helvetica Neue"/>
                <a:ea typeface="Helvetica Neue"/>
                <a:cs typeface="Helvetica Neue"/>
              </a:defRPr>
            </a:pPr>
            <a:r>
              <a:rPr sz="1875" b="0">
                <a:solidFill>
                  <a:srgbClr val="16664B"/>
                </a:solidFill>
                <a:latin typeface="Helvetica Neue"/>
                <a:ea typeface="Helvetica Neue"/>
                <a:cs typeface="Helvetica Neue"/>
              </a:rPr>
              <a:t>Гипотеза ценности: меньше обходов и поиска, больше времени на обслуживание</a:t>
            </a:r>
          </a:p>
        </p:txBody>
      </p:sp>
    </p:spTree>
    <p:extLst>
      <p:ext uri="{BB962C8B-B14F-4D97-AF65-F5344CB8AC3E}">
        <p14:creationId xmlns:p14="http://schemas.microsoft.com/office/powerpoint/2010/main" val="1640634154"/>
      </p:ext>
    </p:extLst>
  </p:cSld>
</p:sld>
</file>

<file path=ppt/slides/slide3.xml><?xml version="1.0" encoding="utf-8"?>
<p:sld xmlns:p="http://schemas.openxmlformats.org/presentationml/2006/main">
  <p:cSld>
    <p:bg>
      <p:bgPr>
        <a:solidFill xmlns:a="http://schemas.openxmlformats.org/drawingml/2006/main">
          <a:srgbClr val="F4F6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28A311-5B02-476B-8AE2-5C03B1B0950F}"/>
              </a:ext>
            </a:extLst>
          </p:cNvPr>
          <p:cNvSpPr>
            <a:spLocks xmlns:a="http://schemas.openxmlformats.org/drawingml/2006/main" noGrp="1"/>
          </p:cNvSpPr>
          <p:nvPr/>
        </p:nvSpPr>
        <p:spPr>
          <a:xfrm xmlns:a="http://schemas.openxmlformats.org/drawingml/2006/main">
            <a:off x="609600" y="5143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382B"/>
                </a:solidFill>
                <a:latin typeface="Helvetica Neue"/>
                <a:ea typeface="Helvetica Neue"/>
                <a:cs typeface="Helvetica Neue"/>
              </a:defRPr>
            </a:defPPr>
          </a:lstStyle>
          <a:p xmlns:a="http://schemas.openxmlformats.org/drawingml/2006/main">
            <a:pPr>
              <a:defRPr sz="3225" b="1">
                <a:solidFill>
                  <a:srgbClr val="16382B"/>
                </a:solidFill>
                <a:latin typeface="Helvetica Neue"/>
                <a:ea typeface="Helvetica Neue"/>
                <a:cs typeface="Helvetica Neue"/>
              </a:defRPr>
            </a:pPr>
            <a:r>
              <a:rPr sz="3225" b="1">
                <a:solidFill>
                  <a:srgbClr val="16382B"/>
                </a:solidFill>
                <a:latin typeface="Helvetica Neue"/>
                <a:ea typeface="Helvetica Neue"/>
                <a:cs typeface="Helvetica Neue"/>
              </a:rPr>
              <a:t>Демо: видео и автоматическое распознавание</a:t>
            </a:r>
          </a:p>
        </p:txBody>
      </p:sp>
      <p:sp>
        <p:nvSpPr>
          <p:cNvPr id="2" name="">
            <a:extLst xmlns:a="http://schemas.openxmlformats.org/drawingml/2006/main">
              <a:ext uri="{FF2B5EF4-FFF2-40B4-BE49-F238E27FC236}">
                <a16:creationId xmlns:a16="http://schemas.microsoft.com/office/drawing/2014/main" id="{06717FAE-0093-48F2-B0E8-18989512020D}"/>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DDE6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E55897-02BC-4DF0-AD85-E4C2D2EEB697}"/>
              </a:ext>
            </a:extLst>
          </p:cNvPr>
          <p:cNvSpPr>
            <a:spLocks xmlns:a="http://schemas.openxmlformats.org/drawingml/2006/main" noGrp="1"/>
          </p:cNvSpPr>
          <p:nvPr/>
        </p:nvSpPr>
        <p:spPr>
          <a:xfrm xmlns:a="http://schemas.openxmlformats.org/drawingml/2006/main">
            <a:off x="609600" y="6429375"/>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1">
                <a:solidFill>
                  <a:srgbClr val="6F8076"/>
                </a:solidFill>
                <a:latin typeface="Helvetica Neue"/>
                <a:ea typeface="Helvetica Neue"/>
                <a:cs typeface="Helvetica Neue"/>
              </a:defRPr>
            </a:defPPr>
          </a:lstStyle>
          <a:p xmlns:a="http://schemas.openxmlformats.org/drawingml/2006/main">
            <a:pPr>
              <a:defRPr sz="900" b="1">
                <a:solidFill>
                  <a:srgbClr val="6F8076"/>
                </a:solidFill>
                <a:latin typeface="Helvetica Neue"/>
                <a:ea typeface="Helvetica Neue"/>
                <a:cs typeface="Helvetica Neue"/>
              </a:defRPr>
            </a:pPr>
            <a:r>
              <a:rPr sz="900" b="1">
                <a:solidFill>
                  <a:srgbClr val="6F8076"/>
                </a:solidFill>
                <a:latin typeface="Helvetica Neue"/>
                <a:ea typeface="Helvetica Neue"/>
                <a:cs typeface="Helvetica Neue"/>
              </a:rPr>
              <a:t>BAYWATCH</a:t>
            </a:r>
          </a:p>
        </p:txBody>
      </p:sp>
      <p:sp>
        <p:nvSpPr>
          <p:cNvPr id="4" name="">
            <a:extLst xmlns:a="http://schemas.openxmlformats.org/drawingml/2006/main">
              <a:ext uri="{FF2B5EF4-FFF2-40B4-BE49-F238E27FC236}">
                <a16:creationId xmlns:a16="http://schemas.microsoft.com/office/drawing/2014/main" id="{558853FB-E011-4B25-ABA8-DA55A575E661}"/>
              </a:ext>
            </a:extLst>
          </p:cNvPr>
          <p:cNvSpPr>
            <a:spLocks xmlns:a="http://schemas.openxmlformats.org/drawingml/2006/main" noGrp="1"/>
          </p:cNvSpPr>
          <p:nvPr/>
        </p:nvSpPr>
        <p:spPr>
          <a:xfrm xmlns:a="http://schemas.openxmlformats.org/drawingml/2006/main">
            <a:off x="11029950" y="642937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F8076"/>
                </a:solidFill>
                <a:latin typeface="Helvetica Neue"/>
                <a:ea typeface="Helvetica Neue"/>
                <a:cs typeface="Helvetica Neue"/>
              </a:defRPr>
            </a:defPPr>
          </a:lstStyle>
          <a:p xmlns:a="http://schemas.openxmlformats.org/drawingml/2006/main">
            <a:pPr>
              <a:defRPr sz="900" b="0">
                <a:solidFill>
                  <a:srgbClr val="6F8076"/>
                </a:solidFill>
                <a:latin typeface="Helvetica Neue"/>
                <a:ea typeface="Helvetica Neue"/>
                <a:cs typeface="Helvetica Neue"/>
              </a:defRPr>
            </a:pPr>
            <a:r>
              <a:rPr sz="900" b="0">
                <a:solidFill>
                  <a:srgbClr val="6F8076"/>
                </a:solidFill>
                <a:latin typeface="Helvetica Neue"/>
                <a:ea typeface="Helvetica Neue"/>
                <a:cs typeface="Helvetica Neue"/>
              </a:rPr>
              <a:t>03</a:t>
            </a:r>
          </a:p>
        </p:txBody>
      </p:sp>
      <p:pic>
        <p:nvPicPr>
          <p:cNvPr id="5" name="">
            <a:extLst xmlns:a="http://schemas.openxmlformats.org/drawingml/2006/main">
              <a:ext uri="{FF2B5EF4-FFF2-40B4-BE49-F238E27FC236}">
                <a16:creationId xmlns:a16="http://schemas.microsoft.com/office/drawing/2014/main" id="{75A2B482-DE06-41B6-8E03-91EB1E537B41}"/>
              </a:ext>
            </a:extLst>
          </p:cNvPr>
          <p:cNvPicPr>
            <a:picLocks xmlns:a="http://schemas.openxmlformats.org/drawingml/2006/main" noChangeAspect="1"/>
          </p:cNvPicPr>
          <p:nvPr/>
        </p:nvPicPr>
        <p:blipFill>
          <a:blip xmlns:r="http://schemas.openxmlformats.org/officeDocument/2006/relationships" xmlns:a="http://schemas.openxmlformats.org/drawingml/2006/main" r:embed="R4a9fb308ad6449d3"/>
          <a:stretch xmlns:a="http://schemas.openxmlformats.org/drawingml/2006/main"/>
        </p:blipFill>
        <p:spPr>
          <a:xfrm xmlns:a="http://schemas.openxmlformats.org/drawingml/2006/main">
            <a:off x="984726" y="1647825"/>
            <a:ext cx="3955099" cy="4362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18A5347-5A9E-4F24-9091-6FECA0C0C175}"/>
              </a:ext>
            </a:extLst>
          </p:cNvPr>
          <p:cNvSpPr>
            <a:spLocks xmlns:a="http://schemas.openxmlformats.org/drawingml/2006/main" noGrp="1"/>
          </p:cNvSpPr>
          <p:nvPr/>
        </p:nvSpPr>
        <p:spPr>
          <a:xfrm xmlns:a="http://schemas.openxmlformats.org/drawingml/2006/main">
            <a:off x="5772150" y="1962150"/>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6382B"/>
                </a:solidFill>
                <a:latin typeface="Helvetica Neue"/>
                <a:ea typeface="Helvetica Neue"/>
                <a:cs typeface="Helvetica Neue"/>
              </a:defRPr>
            </a:defPPr>
          </a:lstStyle>
          <a:p xmlns:a="http://schemas.openxmlformats.org/drawingml/2006/main">
            <a:pPr>
              <a:defRPr sz="2325" b="1">
                <a:solidFill>
                  <a:srgbClr val="16382B"/>
                </a:solidFill>
                <a:latin typeface="Helvetica Neue"/>
                <a:ea typeface="Helvetica Neue"/>
                <a:cs typeface="Helvetica Neue"/>
              </a:defRPr>
            </a:pPr>
            <a:r>
              <a:rPr sz="2325" b="1">
                <a:solidFill>
                  <a:srgbClr val="16382B"/>
                </a:solidFill>
                <a:latin typeface="Helvetica Neue"/>
                <a:ea typeface="Helvetica Neue"/>
                <a:cs typeface="Helvetica Neue"/>
              </a:rPr>
              <a:t>01  Видео с реальным движением</a:t>
            </a:r>
          </a:p>
        </p:txBody>
      </p:sp>
      <p:sp>
        <p:nvSpPr>
          <p:cNvPr id="7" name="">
            <a:extLst xmlns:a="http://schemas.openxmlformats.org/drawingml/2006/main">
              <a:ext uri="{FF2B5EF4-FFF2-40B4-BE49-F238E27FC236}">
                <a16:creationId xmlns:a16="http://schemas.microsoft.com/office/drawing/2014/main" id="{7D8C6F6D-C7FC-4795-8685-7ABAE4514E07}"/>
              </a:ext>
            </a:extLst>
          </p:cNvPr>
          <p:cNvSpPr>
            <a:spLocks xmlns:a="http://schemas.openxmlformats.org/drawingml/2006/main" noGrp="1"/>
          </p:cNvSpPr>
          <p:nvPr/>
        </p:nvSpPr>
        <p:spPr>
          <a:xfrm xmlns:a="http://schemas.openxmlformats.org/drawingml/2006/main">
            <a:off x="5772150" y="2876550"/>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6382B"/>
                </a:solidFill>
                <a:latin typeface="Helvetica Neue"/>
                <a:ea typeface="Helvetica Neue"/>
                <a:cs typeface="Helvetica Neue"/>
              </a:defRPr>
            </a:defPPr>
          </a:lstStyle>
          <a:p xmlns:a="http://schemas.openxmlformats.org/drawingml/2006/main">
            <a:pPr>
              <a:defRPr sz="2325" b="1">
                <a:solidFill>
                  <a:srgbClr val="16382B"/>
                </a:solidFill>
                <a:latin typeface="Helvetica Neue"/>
                <a:ea typeface="Helvetica Neue"/>
                <a:cs typeface="Helvetica Neue"/>
              </a:defRPr>
            </a:pPr>
            <a:r>
              <a:rPr sz="2325" b="1">
                <a:solidFill>
                  <a:srgbClr val="16382B"/>
                </a:solidFill>
                <a:latin typeface="Helvetica Neue"/>
                <a:ea typeface="Helvetica Neue"/>
                <a:cs typeface="Helvetica Neue"/>
              </a:rPr>
              <a:t>02  Свой файл без разметки</a:t>
            </a:r>
          </a:p>
        </p:txBody>
      </p:sp>
      <p:sp>
        <p:nvSpPr>
          <p:cNvPr id="8" name="">
            <a:extLst xmlns:a="http://schemas.openxmlformats.org/drawingml/2006/main">
              <a:ext uri="{FF2B5EF4-FFF2-40B4-BE49-F238E27FC236}">
                <a16:creationId xmlns:a16="http://schemas.microsoft.com/office/drawing/2014/main" id="{50E1650B-1231-4A5F-8BCA-7D3821A84476}"/>
              </a:ext>
            </a:extLst>
          </p:cNvPr>
          <p:cNvSpPr>
            <a:spLocks xmlns:a="http://schemas.openxmlformats.org/drawingml/2006/main" noGrp="1"/>
          </p:cNvSpPr>
          <p:nvPr/>
        </p:nvSpPr>
        <p:spPr>
          <a:xfrm xmlns:a="http://schemas.openxmlformats.org/drawingml/2006/main">
            <a:off x="5772150" y="3790950"/>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6382B"/>
                </a:solidFill>
                <a:latin typeface="Helvetica Neue"/>
                <a:ea typeface="Helvetica Neue"/>
                <a:cs typeface="Helvetica Neue"/>
              </a:defRPr>
            </a:defPPr>
          </a:lstStyle>
          <a:p xmlns:a="http://schemas.openxmlformats.org/drawingml/2006/main">
            <a:pPr>
              <a:defRPr sz="2325" b="1">
                <a:solidFill>
                  <a:srgbClr val="16382B"/>
                </a:solidFill>
                <a:latin typeface="Helvetica Neue"/>
                <a:ea typeface="Helvetica Neue"/>
                <a:cs typeface="Helvetica Neue"/>
              </a:defRPr>
            </a:pPr>
            <a:r>
              <a:rPr sz="2325" b="1">
                <a:solidFill>
                  <a:srgbClr val="16382B"/>
                </a:solidFill>
                <a:latin typeface="Helvetica Neue"/>
                <a:ea typeface="Helvetica Neue"/>
                <a:cs typeface="Helvetica Neue"/>
              </a:rPr>
              <a:t>03  Рамки машин и JSON</a:t>
            </a:r>
          </a:p>
        </p:txBody>
      </p:sp>
      <p:sp>
        <p:nvSpPr>
          <p:cNvPr id="9" name="">
            <a:extLst xmlns:a="http://schemas.openxmlformats.org/drawingml/2006/main">
              <a:ext uri="{FF2B5EF4-FFF2-40B4-BE49-F238E27FC236}">
                <a16:creationId xmlns:a16="http://schemas.microsoft.com/office/drawing/2014/main" id="{C63D3D3D-2463-4CDC-AF8A-C8D9F1275A1E}"/>
              </a:ext>
            </a:extLst>
          </p:cNvPr>
          <p:cNvSpPr>
            <a:spLocks xmlns:a="http://schemas.openxmlformats.org/drawingml/2006/main" noGrp="1"/>
          </p:cNvSpPr>
          <p:nvPr/>
        </p:nvSpPr>
        <p:spPr>
          <a:xfrm xmlns:a="http://schemas.openxmlformats.org/drawingml/2006/main">
            <a:off x="5772150" y="4962525"/>
            <a:ext cx="576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664B"/>
                </a:solidFill>
                <a:latin typeface="Helvetica Neue"/>
                <a:ea typeface="Helvetica Neue"/>
                <a:cs typeface="Helvetica Neue"/>
              </a:defRPr>
            </a:defPPr>
          </a:lstStyle>
          <a:p xmlns:a="http://schemas.openxmlformats.org/drawingml/2006/main">
            <a:pPr>
              <a:defRPr sz="1875" b="0">
                <a:solidFill>
                  <a:srgbClr val="16664B"/>
                </a:solidFill>
                <a:latin typeface="Helvetica Neue"/>
                <a:ea typeface="Helvetica Neue"/>
                <a:cs typeface="Helvetica Neue"/>
              </a:defRPr>
            </a:pPr>
            <a:r>
              <a:rPr sz="1875" b="0">
                <a:solidFill>
                  <a:srgbClr val="16664B"/>
                </a:solidFill>
                <a:latin typeface="Helvetica Neue"/>
                <a:ea typeface="Helvetica Neue"/>
                <a:cs typeface="Helvetica Neue"/>
              </a:rPr>
              <a:t>Пауза и перемотка для проверки.</a:t>
            </a:r>
          </a:p>
          <a:p xmlns:a="http://schemas.openxmlformats.org/drawingml/2006/main">
            <a:pPr>
              <a:defRPr sz="1875" b="0">
                <a:solidFill>
                  <a:srgbClr val="16664B"/>
                </a:solidFill>
                <a:latin typeface="Helvetica Neue"/>
                <a:ea typeface="Helvetica Neue"/>
                <a:cs typeface="Helvetica Neue"/>
              </a:defRPr>
            </a:pPr>
            <a:r>
              <a:rPr sz="1875" b="0">
                <a:solidFill>
                  <a:srgbClr val="16664B"/>
                </a:solidFill>
                <a:latin typeface="Helvetica Neue"/>
                <a:ea typeface="Helvetica Neue"/>
                <a:cs typeface="Helvetica Neue"/>
              </a:rPr>
              <a:t>Пустые места требуют карты зон.</a:t>
            </a:r>
          </a:p>
        </p:txBody>
      </p:sp>
    </p:spTree>
    <p:extLst>
      <p:ext uri="{BB962C8B-B14F-4D97-AF65-F5344CB8AC3E}">
        <p14:creationId xmlns:p14="http://schemas.microsoft.com/office/powerpoint/2010/main" val="399958020"/>
      </p:ext>
    </p:extLst>
  </p:cSld>
</p:sld>
</file>

<file path=ppt/slides/slide4.xml><?xml version="1.0" encoding="utf-8"?>
<p:sld xmlns:p="http://schemas.openxmlformats.org/presentationml/2006/main">
  <p:cSld>
    <p:bg>
      <p:bgPr>
        <a:solidFill xmlns:a="http://schemas.openxmlformats.org/drawingml/2006/main">
          <a:srgbClr val="F4F6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AB606F8-EB84-471F-BC1E-53B8CD4E4A6C}"/>
              </a:ext>
            </a:extLst>
          </p:cNvPr>
          <p:cNvSpPr>
            <a:spLocks xmlns:a="http://schemas.openxmlformats.org/drawingml/2006/main" noGrp="1"/>
          </p:cNvSpPr>
          <p:nvPr/>
        </p:nvSpPr>
        <p:spPr>
          <a:xfrm xmlns:a="http://schemas.openxmlformats.org/drawingml/2006/main">
            <a:off x="609600" y="5143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382B"/>
                </a:solidFill>
                <a:latin typeface="Helvetica Neue"/>
                <a:ea typeface="Helvetica Neue"/>
                <a:cs typeface="Helvetica Neue"/>
              </a:defRPr>
            </a:defPPr>
          </a:lstStyle>
          <a:p xmlns:a="http://schemas.openxmlformats.org/drawingml/2006/main">
            <a:pPr>
              <a:defRPr sz="3225" b="1">
                <a:solidFill>
                  <a:srgbClr val="16382B"/>
                </a:solidFill>
                <a:latin typeface="Helvetica Neue"/>
                <a:ea typeface="Helvetica Neue"/>
                <a:cs typeface="Helvetica Neue"/>
              </a:defRPr>
            </a:pPr>
            <a:r>
              <a:rPr sz="3225" b="1">
                <a:solidFill>
                  <a:srgbClr val="16382B"/>
                </a:solidFill>
                <a:latin typeface="Helvetica Neue"/>
                <a:ea typeface="Helvetica Neue"/>
                <a:cs typeface="Helvetica Neue"/>
              </a:rPr>
              <a:t>Два режима распознавания в браузере</a:t>
            </a:r>
          </a:p>
        </p:txBody>
      </p:sp>
      <p:sp>
        <p:nvSpPr>
          <p:cNvPr id="2" name="">
            <a:extLst xmlns:a="http://schemas.openxmlformats.org/drawingml/2006/main">
              <a:ext uri="{FF2B5EF4-FFF2-40B4-BE49-F238E27FC236}">
                <a16:creationId xmlns:a16="http://schemas.microsoft.com/office/drawing/2014/main" id="{458BFB24-3924-4932-A250-10354C0807D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DDE6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13953AF-A234-466C-9394-33272DF2F1B2}"/>
              </a:ext>
            </a:extLst>
          </p:cNvPr>
          <p:cNvSpPr>
            <a:spLocks xmlns:a="http://schemas.openxmlformats.org/drawingml/2006/main" noGrp="1"/>
          </p:cNvSpPr>
          <p:nvPr/>
        </p:nvSpPr>
        <p:spPr>
          <a:xfrm xmlns:a="http://schemas.openxmlformats.org/drawingml/2006/main">
            <a:off x="609600" y="6429375"/>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1">
                <a:solidFill>
                  <a:srgbClr val="6F8076"/>
                </a:solidFill>
                <a:latin typeface="Helvetica Neue"/>
                <a:ea typeface="Helvetica Neue"/>
                <a:cs typeface="Helvetica Neue"/>
              </a:defRPr>
            </a:defPPr>
          </a:lstStyle>
          <a:p xmlns:a="http://schemas.openxmlformats.org/drawingml/2006/main">
            <a:pPr>
              <a:defRPr sz="900" b="1">
                <a:solidFill>
                  <a:srgbClr val="6F8076"/>
                </a:solidFill>
                <a:latin typeface="Helvetica Neue"/>
                <a:ea typeface="Helvetica Neue"/>
                <a:cs typeface="Helvetica Neue"/>
              </a:defRPr>
            </a:pPr>
            <a:r>
              <a:rPr sz="900" b="1">
                <a:solidFill>
                  <a:srgbClr val="6F8076"/>
                </a:solidFill>
                <a:latin typeface="Helvetica Neue"/>
                <a:ea typeface="Helvetica Neue"/>
                <a:cs typeface="Helvetica Neue"/>
              </a:rPr>
              <a:t>BAYWATCH</a:t>
            </a:r>
          </a:p>
        </p:txBody>
      </p:sp>
      <p:sp>
        <p:nvSpPr>
          <p:cNvPr id="4" name="">
            <a:extLst xmlns:a="http://schemas.openxmlformats.org/drawingml/2006/main">
              <a:ext uri="{FF2B5EF4-FFF2-40B4-BE49-F238E27FC236}">
                <a16:creationId xmlns:a16="http://schemas.microsoft.com/office/drawing/2014/main" id="{775E2D32-AE3C-4956-9DC7-3B8513A48466}"/>
              </a:ext>
            </a:extLst>
          </p:cNvPr>
          <p:cNvSpPr>
            <a:spLocks xmlns:a="http://schemas.openxmlformats.org/drawingml/2006/main" noGrp="1"/>
          </p:cNvSpPr>
          <p:nvPr/>
        </p:nvSpPr>
        <p:spPr>
          <a:xfrm xmlns:a="http://schemas.openxmlformats.org/drawingml/2006/main">
            <a:off x="11029950" y="642937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F8076"/>
                </a:solidFill>
                <a:latin typeface="Helvetica Neue"/>
                <a:ea typeface="Helvetica Neue"/>
                <a:cs typeface="Helvetica Neue"/>
              </a:defRPr>
            </a:defPPr>
          </a:lstStyle>
          <a:p xmlns:a="http://schemas.openxmlformats.org/drawingml/2006/main">
            <a:pPr>
              <a:defRPr sz="900" b="0">
                <a:solidFill>
                  <a:srgbClr val="6F8076"/>
                </a:solidFill>
                <a:latin typeface="Helvetica Neue"/>
                <a:ea typeface="Helvetica Neue"/>
                <a:cs typeface="Helvetica Neue"/>
              </a:defRPr>
            </a:pPr>
            <a:r>
              <a:rPr sz="900" b="0">
                <a:solidFill>
                  <a:srgbClr val="6F8076"/>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2181E0A0-C0AE-4E50-8528-34C4FDF59A0A}"/>
              </a:ext>
            </a:extLst>
          </p:cNvPr>
          <p:cNvSpPr>
            <a:spLocks xmlns:a="http://schemas.openxmlformats.org/drawingml/2006/main" noGrp="1"/>
          </p:cNvSpPr>
          <p:nvPr/>
        </p:nvSpPr>
        <p:spPr>
          <a:xfrm xmlns:a="http://schemas.openxmlformats.org/drawingml/2006/main">
            <a:off x="609600" y="1838325"/>
            <a:ext cx="542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6664B"/>
                </a:solidFill>
                <a:latin typeface="Helvetica Neue"/>
                <a:ea typeface="Helvetica Neue"/>
                <a:cs typeface="Helvetica Neue"/>
              </a:defRPr>
            </a:defPPr>
          </a:lstStyle>
          <a:p xmlns:a="http://schemas.openxmlformats.org/drawingml/2006/main">
            <a:pPr>
              <a:defRPr sz="2400" b="1">
                <a:solidFill>
                  <a:srgbClr val="16664B"/>
                </a:solidFill>
                <a:latin typeface="Helvetica Neue"/>
                <a:ea typeface="Helvetica Neue"/>
                <a:cs typeface="Helvetica Neue"/>
              </a:defRPr>
            </a:pPr>
            <a:r>
              <a:rPr sz="2400" b="1">
                <a:solidFill>
                  <a:srgbClr val="16664B"/>
                </a:solidFill>
                <a:latin typeface="Helvetica Neue"/>
                <a:ea typeface="Helvetica Neue"/>
                <a:cs typeface="Helvetica Neue"/>
              </a:rPr>
              <a:t>Автомобили без разметки</a:t>
            </a:r>
          </a:p>
        </p:txBody>
      </p:sp>
      <p:sp>
        <p:nvSpPr>
          <p:cNvPr id="6" name="">
            <a:extLst xmlns:a="http://schemas.openxmlformats.org/drawingml/2006/main">
              <a:ext uri="{FF2B5EF4-FFF2-40B4-BE49-F238E27FC236}">
                <a16:creationId xmlns:a16="http://schemas.microsoft.com/office/drawing/2014/main" id="{82FF9DF5-0E9D-49EF-8B8A-FAF0F760D499}"/>
              </a:ext>
            </a:extLst>
          </p:cNvPr>
          <p:cNvSpPr>
            <a:spLocks xmlns:a="http://schemas.openxmlformats.org/drawingml/2006/main" noGrp="1"/>
          </p:cNvSpPr>
          <p:nvPr/>
        </p:nvSpPr>
        <p:spPr>
          <a:xfrm xmlns:a="http://schemas.openxmlformats.org/drawingml/2006/main">
            <a:off x="609600" y="2657475"/>
            <a:ext cx="53721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82B"/>
                </a:solidFill>
                <a:latin typeface="Helvetica Neue"/>
                <a:ea typeface="Helvetica Neue"/>
                <a:cs typeface="Helvetica Neue"/>
              </a:defRPr>
            </a:defPPr>
          </a:lstStyle>
          <a:p xmlns:a="http://schemas.openxmlformats.org/drawingml/2006/main">
            <a:pPr>
              <a:defRPr sz="2025" b="0">
                <a:solidFill>
                  <a:srgbClr val="16382B"/>
                </a:solidFill>
                <a:latin typeface="Helvetica Neue"/>
                <a:ea typeface="Helvetica Neue"/>
                <a:cs typeface="Helvetica Neue"/>
              </a:defRPr>
            </a:pPr>
            <a:r>
              <a:rPr sz="2025" b="0">
                <a:solidFill>
                  <a:srgbClr val="16382B"/>
                </a:solidFill>
                <a:latin typeface="Helvetica Neue"/>
                <a:ea typeface="Helvetica Neue"/>
                <a:cs typeface="Helvetica Neue"/>
              </a:rPr>
              <a:t>Готовый COCO-SSD</a:t>
            </a:r>
          </a:p>
          <a:p xmlns:a="http://schemas.openxmlformats.org/drawingml/2006/main">
            <a:pPr>
              <a:defRPr sz="2025" b="0">
                <a:solidFill>
                  <a:srgbClr val="16382B"/>
                </a:solidFill>
                <a:latin typeface="Helvetica Neue"/>
                <a:ea typeface="Helvetica Neue"/>
                <a:cs typeface="Helvetica Neue"/>
              </a:defRPr>
            </a:pPr>
            <a:r>
              <a:rPr sz="2025" b="0">
                <a:solidFill>
                  <a:srgbClr val="16382B"/>
                </a:solidFill>
                <a:latin typeface="Helvetica Neue"/>
                <a:ea typeface="Helvetica Neue"/>
                <a:cs typeface="Helvetica Neue"/>
              </a:rPr>
              <a:t>Lite MobileNet v2 / TensorFlow.js</a:t>
            </a:r>
          </a:p>
        </p:txBody>
      </p:sp>
      <p:sp>
        <p:nvSpPr>
          <p:cNvPr id="7" name="">
            <a:extLst xmlns:a="http://schemas.openxmlformats.org/drawingml/2006/main">
              <a:ext uri="{FF2B5EF4-FFF2-40B4-BE49-F238E27FC236}">
                <a16:creationId xmlns:a16="http://schemas.microsoft.com/office/drawing/2014/main" id="{0761A28B-55CC-44E3-A2EA-54AE6878E884}"/>
              </a:ext>
            </a:extLst>
          </p:cNvPr>
          <p:cNvSpPr>
            <a:spLocks xmlns:a="http://schemas.openxmlformats.org/drawingml/2006/main" noGrp="1"/>
          </p:cNvSpPr>
          <p:nvPr/>
        </p:nvSpPr>
        <p:spPr>
          <a:xfrm xmlns:a="http://schemas.openxmlformats.org/drawingml/2006/main">
            <a:off x="609600" y="3667125"/>
            <a:ext cx="5381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F8076"/>
                </a:solidFill>
                <a:latin typeface="Helvetica Neue"/>
                <a:ea typeface="Helvetica Neue"/>
                <a:cs typeface="Helvetica Neue"/>
              </a:defRPr>
            </a:defPPr>
          </a:lstStyle>
          <a:p xmlns:a="http://schemas.openxmlformats.org/drawingml/2006/main">
            <a:pPr>
              <a:defRPr sz="1875" b="0">
                <a:solidFill>
                  <a:srgbClr val="6F8076"/>
                </a:solidFill>
                <a:latin typeface="Helvetica Neue"/>
                <a:ea typeface="Helvetica Neue"/>
                <a:cs typeface="Helvetica Neue"/>
              </a:defRPr>
            </a:pPr>
            <a:r>
              <a:rPr sz="1875" b="0">
                <a:solidFill>
                  <a:srgbClr val="6F8076"/>
                </a:solidFill>
                <a:latin typeface="Helvetica Neue"/>
                <a:ea typeface="Helvetica Neue"/>
                <a:cs typeface="Helvetica Neue"/>
              </a:rPr>
              <a:t>Около 18 MB весов</a:t>
            </a:r>
          </a:p>
        </p:txBody>
      </p:sp>
      <p:sp>
        <p:nvSpPr>
          <p:cNvPr id="8" name="">
            <a:extLst xmlns:a="http://schemas.openxmlformats.org/drawingml/2006/main">
              <a:ext uri="{FF2B5EF4-FFF2-40B4-BE49-F238E27FC236}">
                <a16:creationId xmlns:a16="http://schemas.microsoft.com/office/drawing/2014/main" id="{00DBB1A0-D28C-486F-9B4F-CD9A56EEA63D}"/>
              </a:ext>
            </a:extLst>
          </p:cNvPr>
          <p:cNvSpPr>
            <a:spLocks xmlns:a="http://schemas.openxmlformats.org/drawingml/2006/main" noGrp="1"/>
          </p:cNvSpPr>
          <p:nvPr/>
        </p:nvSpPr>
        <p:spPr>
          <a:xfrm xmlns:a="http://schemas.openxmlformats.org/drawingml/2006/main">
            <a:off x="6400800" y="1838325"/>
            <a:ext cx="5181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6664B"/>
                </a:solidFill>
                <a:latin typeface="Helvetica Neue"/>
                <a:ea typeface="Helvetica Neue"/>
                <a:cs typeface="Helvetica Neue"/>
              </a:defRPr>
            </a:defPPr>
          </a:lstStyle>
          <a:p xmlns:a="http://schemas.openxmlformats.org/drawingml/2006/main">
            <a:pPr>
              <a:defRPr sz="2325" b="1">
                <a:solidFill>
                  <a:srgbClr val="16664B"/>
                </a:solidFill>
                <a:latin typeface="Helvetica Neue"/>
                <a:ea typeface="Helvetica Neue"/>
                <a:cs typeface="Helvetica Neue"/>
              </a:defRPr>
            </a:pPr>
            <a:r>
              <a:rPr sz="2325" b="1">
                <a:solidFill>
                  <a:srgbClr val="16664B"/>
                </a:solidFill>
                <a:latin typeface="Helvetica Neue"/>
                <a:ea typeface="Helvetica Neue"/>
                <a:cs typeface="Helvetica Neue"/>
              </a:rPr>
              <a:t>Занятость заданного места</a:t>
            </a:r>
          </a:p>
        </p:txBody>
      </p:sp>
      <p:sp>
        <p:nvSpPr>
          <p:cNvPr id="9" name="">
            <a:extLst xmlns:a="http://schemas.openxmlformats.org/drawingml/2006/main">
              <a:ext uri="{FF2B5EF4-FFF2-40B4-BE49-F238E27FC236}">
                <a16:creationId xmlns:a16="http://schemas.microsoft.com/office/drawing/2014/main" id="{0F4F0A86-03E0-46E2-B9A6-2C0FFC5A4683}"/>
              </a:ext>
            </a:extLst>
          </p:cNvPr>
          <p:cNvSpPr>
            <a:spLocks xmlns:a="http://schemas.openxmlformats.org/drawingml/2006/main" noGrp="1"/>
          </p:cNvSpPr>
          <p:nvPr/>
        </p:nvSpPr>
        <p:spPr>
          <a:xfrm xmlns:a="http://schemas.openxmlformats.org/drawingml/2006/main">
            <a:off x="6400800" y="2657475"/>
            <a:ext cx="5181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6382B"/>
                </a:solidFill>
                <a:latin typeface="Helvetica Neue"/>
                <a:ea typeface="Helvetica Neue"/>
                <a:cs typeface="Helvetica Neue"/>
              </a:defRPr>
            </a:defPPr>
          </a:lstStyle>
          <a:p xmlns:a="http://schemas.openxmlformats.org/drawingml/2006/main">
            <a:pPr>
              <a:defRPr sz="1950" b="0">
                <a:solidFill>
                  <a:srgbClr val="16382B"/>
                </a:solidFill>
                <a:latin typeface="Helvetica Neue"/>
                <a:ea typeface="Helvetica Neue"/>
                <a:cs typeface="Helvetica Neue"/>
              </a:defRPr>
            </a:pPr>
            <a:r>
              <a:rPr sz="1950" b="0">
                <a:solidFill>
                  <a:srgbClr val="16382B"/>
                </a:solidFill>
                <a:latin typeface="Helvetica Neue"/>
                <a:ea typeface="Helvetica Neue"/>
                <a:cs typeface="Helvetica Neue"/>
              </a:rPr>
              <a:t>Собственная MLP</a:t>
            </a:r>
          </a:p>
          <a:p xmlns:a="http://schemas.openxmlformats.org/drawingml/2006/main">
            <a:pPr>
              <a:defRPr sz="1950" b="0">
                <a:solidFill>
                  <a:srgbClr val="16382B"/>
                </a:solidFill>
                <a:latin typeface="Helvetica Neue"/>
                <a:ea typeface="Helvetica Neue"/>
                <a:cs typeface="Helvetica Neue"/>
              </a:defRPr>
            </a:pPr>
            <a:r>
              <a:rPr sz="1950" b="0">
                <a:solidFill>
                  <a:srgbClr val="16382B"/>
                </a:solidFill>
                <a:latin typeface="Helvetica Neue"/>
                <a:ea typeface="Helvetica Neue"/>
                <a:cs typeface="Helvetica Neue"/>
              </a:rPr>
              <a:t>224 признака, 48 нейронов, 1 выход</a:t>
            </a:r>
          </a:p>
        </p:txBody>
      </p:sp>
      <p:sp>
        <p:nvSpPr>
          <p:cNvPr id="10" name="">
            <a:extLst xmlns:a="http://schemas.openxmlformats.org/drawingml/2006/main">
              <a:ext uri="{FF2B5EF4-FFF2-40B4-BE49-F238E27FC236}">
                <a16:creationId xmlns:a16="http://schemas.microsoft.com/office/drawing/2014/main" id="{7C253C65-9918-418F-83F7-99847DFF3062}"/>
              </a:ext>
            </a:extLst>
          </p:cNvPr>
          <p:cNvSpPr>
            <a:spLocks xmlns:a="http://schemas.openxmlformats.org/drawingml/2006/main" noGrp="1"/>
          </p:cNvSpPr>
          <p:nvPr/>
        </p:nvSpPr>
        <p:spPr>
          <a:xfrm xmlns:a="http://schemas.openxmlformats.org/drawingml/2006/main">
            <a:off x="6400800" y="36671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F8076"/>
                </a:solidFill>
                <a:latin typeface="Helvetica Neue"/>
                <a:ea typeface="Helvetica Neue"/>
                <a:cs typeface="Helvetica Neue"/>
              </a:defRPr>
            </a:defPPr>
          </a:lstStyle>
          <a:p xmlns:a="http://schemas.openxmlformats.org/drawingml/2006/main">
            <a:pPr>
              <a:defRPr sz="1875" b="0">
                <a:solidFill>
                  <a:srgbClr val="6F8076"/>
                </a:solidFill>
                <a:latin typeface="Helvetica Neue"/>
                <a:ea typeface="Helvetica Neue"/>
                <a:cs typeface="Helvetica Neue"/>
              </a:defRPr>
            </a:pPr>
            <a:r>
              <a:rPr sz="1875" b="0">
                <a:solidFill>
                  <a:srgbClr val="6F8076"/>
                </a:solidFill>
                <a:latin typeface="Helvetica Neue"/>
                <a:ea typeface="Helvetica Neue"/>
                <a:cs typeface="Helvetica Neue"/>
              </a:rPr>
              <a:t>233 KiB весов</a:t>
            </a:r>
          </a:p>
        </p:txBody>
      </p:sp>
      <p:sp>
        <p:nvSpPr>
          <p:cNvPr id="11" name="">
            <a:extLst xmlns:a="http://schemas.openxmlformats.org/drawingml/2006/main">
              <a:ext uri="{FF2B5EF4-FFF2-40B4-BE49-F238E27FC236}">
                <a16:creationId xmlns:a16="http://schemas.microsoft.com/office/drawing/2014/main" id="{08AD343B-D536-4704-8FA5-87FBEA116A02}"/>
              </a:ext>
            </a:extLst>
          </p:cNvPr>
          <p:cNvSpPr>
            <a:spLocks xmlns:a="http://schemas.openxmlformats.org/drawingml/2006/main" noGrp="1"/>
          </p:cNvSpPr>
          <p:nvPr/>
        </p:nvSpPr>
        <p:spPr>
          <a:xfrm xmlns:a="http://schemas.openxmlformats.org/drawingml/2006/main">
            <a:off x="609600" y="4400550"/>
            <a:ext cx="10972800" cy="19050"/>
          </a:xfrm>
          <a:prstGeom xmlns:a="http://schemas.openxmlformats.org/drawingml/2006/main" prst="rect">
            <a:avLst/>
          </a:prstGeom>
          <a:solidFill xmlns:a="http://schemas.openxmlformats.org/drawingml/2006/main">
            <a:srgbClr val="DDE6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5773397-5693-4463-AE68-884867B50530}"/>
              </a:ext>
            </a:extLst>
          </p:cNvPr>
          <p:cNvSpPr>
            <a:spLocks xmlns:a="http://schemas.openxmlformats.org/drawingml/2006/main" noGrp="1"/>
          </p:cNvSpPr>
          <p:nvPr/>
        </p:nvSpPr>
        <p:spPr>
          <a:xfrm xmlns:a="http://schemas.openxmlformats.org/drawingml/2006/main">
            <a:off x="609600" y="4838700"/>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382B"/>
                </a:solidFill>
                <a:latin typeface="Helvetica Neue"/>
                <a:ea typeface="Helvetica Neue"/>
                <a:cs typeface="Helvetica Neue"/>
              </a:defRPr>
            </a:defPPr>
          </a:lstStyle>
          <a:p xmlns:a="http://schemas.openxmlformats.org/drawingml/2006/main">
            <a:pPr>
              <a:defRPr sz="3150" b="1">
                <a:solidFill>
                  <a:srgbClr val="16382B"/>
                </a:solidFill>
                <a:latin typeface="Helvetica Neue"/>
                <a:ea typeface="Helvetica Neue"/>
                <a:cs typeface="Helvetica Neue"/>
              </a:defRPr>
            </a:pPr>
            <a:r>
              <a:rPr sz="3150" b="1">
                <a:solidFill>
                  <a:srgbClr val="16382B"/>
                </a:solidFill>
                <a:latin typeface="Helvetica Neue"/>
                <a:ea typeface="Helvetica Neue"/>
                <a:cs typeface="Helvetica Neue"/>
              </a:rPr>
              <a:t>14 / 14 тестов</a:t>
            </a:r>
          </a:p>
        </p:txBody>
      </p:sp>
      <p:sp>
        <p:nvSpPr>
          <p:cNvPr id="13" name="">
            <a:extLst xmlns:a="http://schemas.openxmlformats.org/drawingml/2006/main">
              <a:ext uri="{FF2B5EF4-FFF2-40B4-BE49-F238E27FC236}">
                <a16:creationId xmlns:a16="http://schemas.microsoft.com/office/drawing/2014/main" id="{E11C3898-D140-4A40-B242-F1DFDA012B13}"/>
              </a:ext>
            </a:extLst>
          </p:cNvPr>
          <p:cNvSpPr>
            <a:spLocks xmlns:a="http://schemas.openxmlformats.org/drawingml/2006/main" noGrp="1"/>
          </p:cNvSpPr>
          <p:nvPr/>
        </p:nvSpPr>
        <p:spPr>
          <a:xfrm xmlns:a="http://schemas.openxmlformats.org/drawingml/2006/main">
            <a:off x="6400800" y="4905375"/>
            <a:ext cx="5181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382B"/>
                </a:solidFill>
                <a:latin typeface="Helvetica Neue"/>
                <a:ea typeface="Helvetica Neue"/>
                <a:cs typeface="Helvetica Neue"/>
              </a:defRPr>
            </a:defPPr>
          </a:lstStyle>
          <a:p xmlns:a="http://schemas.openxmlformats.org/drawingml/2006/main">
            <a:pPr>
              <a:defRPr sz="2100" b="1">
                <a:solidFill>
                  <a:srgbClr val="16382B"/>
                </a:solidFill>
                <a:latin typeface="Helvetica Neue"/>
                <a:ea typeface="Helvetica Neue"/>
                <a:cs typeface="Helvetica Neue"/>
              </a:defRPr>
            </a:pPr>
            <a:r>
              <a:rPr sz="2100" b="1">
                <a:solidFill>
                  <a:srgbClr val="16382B"/>
                </a:solidFill>
                <a:latin typeface="Helvetica Neue"/>
                <a:ea typeface="Helvetica Neue"/>
                <a:cs typeface="Helvetica Neue"/>
              </a:rPr>
              <a:t>Кадры остаются на устройстве</a:t>
            </a:r>
          </a:p>
        </p:txBody>
      </p:sp>
      <p:sp>
        <p:nvSpPr>
          <p:cNvPr id="14" name="">
            <a:extLst xmlns:a="http://schemas.openxmlformats.org/drawingml/2006/main">
              <a:ext uri="{FF2B5EF4-FFF2-40B4-BE49-F238E27FC236}">
                <a16:creationId xmlns:a16="http://schemas.microsoft.com/office/drawing/2014/main" id="{3A24EFCC-CCC1-4112-9BEB-46D595D8B185}"/>
              </a:ext>
            </a:extLst>
          </p:cNvPr>
          <p:cNvSpPr>
            <a:spLocks xmlns:a="http://schemas.openxmlformats.org/drawingml/2006/main" noGrp="1"/>
          </p:cNvSpPr>
          <p:nvPr/>
        </p:nvSpPr>
        <p:spPr>
          <a:xfrm xmlns:a="http://schemas.openxmlformats.org/drawingml/2006/main">
            <a:off x="609600" y="5524500"/>
            <a:ext cx="5524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F8076"/>
                </a:solidFill>
                <a:latin typeface="Helvetica Neue"/>
                <a:ea typeface="Helvetica Neue"/>
                <a:cs typeface="Helvetica Neue"/>
              </a:defRPr>
            </a:defPPr>
          </a:lstStyle>
          <a:p xmlns:a="http://schemas.openxmlformats.org/drawingml/2006/main">
            <a:pPr>
              <a:defRPr sz="1575" b="0">
                <a:solidFill>
                  <a:srgbClr val="6F8076"/>
                </a:solidFill>
                <a:latin typeface="Helvetica Neue"/>
                <a:ea typeface="Helvetica Neue"/>
                <a:cs typeface="Helvetica Neue"/>
              </a:defRPr>
            </a:pPr>
            <a:r>
              <a:rPr sz="1575" b="0">
                <a:solidFill>
                  <a:srgbClr val="6F8076"/>
                </a:solidFill>
                <a:latin typeface="Helvetica Neue"/>
                <a:ea typeface="Helvetica Neue"/>
                <a:cs typeface="Helvetica Neue"/>
              </a:rPr>
              <a:t>Логика, декодирование и Python/JS parity</a:t>
            </a:r>
          </a:p>
        </p:txBody>
      </p:sp>
      <p:sp>
        <p:nvSpPr>
          <p:cNvPr id="15" name="">
            <a:extLst xmlns:a="http://schemas.openxmlformats.org/drawingml/2006/main">
              <a:ext uri="{FF2B5EF4-FFF2-40B4-BE49-F238E27FC236}">
                <a16:creationId xmlns:a16="http://schemas.microsoft.com/office/drawing/2014/main" id="{9B562D92-480A-48C7-89F8-D395CF4FC64B}"/>
              </a:ext>
            </a:extLst>
          </p:cNvPr>
          <p:cNvSpPr>
            <a:spLocks xmlns:a="http://schemas.openxmlformats.org/drawingml/2006/main" noGrp="1"/>
          </p:cNvSpPr>
          <p:nvPr/>
        </p:nvSpPr>
        <p:spPr>
          <a:xfrm xmlns:a="http://schemas.openxmlformats.org/drawingml/2006/main">
            <a:off x="6400800" y="5524500"/>
            <a:ext cx="5181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F8076"/>
                </a:solidFill>
                <a:latin typeface="Helvetica Neue"/>
                <a:ea typeface="Helvetica Neue"/>
                <a:cs typeface="Helvetica Neue"/>
              </a:defRPr>
            </a:defPPr>
          </a:lstStyle>
          <a:p xmlns:a="http://schemas.openxmlformats.org/drawingml/2006/main">
            <a:pPr>
              <a:defRPr sz="1575" b="0">
                <a:solidFill>
                  <a:srgbClr val="6F8076"/>
                </a:solidFill>
                <a:latin typeface="Helvetica Neue"/>
                <a:ea typeface="Helvetica Neue"/>
                <a:cs typeface="Helvetica Neue"/>
              </a:defRPr>
            </a:pPr>
            <a:r>
              <a:rPr sz="1575" b="0">
                <a:solidFill>
                  <a:srgbClr val="6F8076"/>
                </a:solidFill>
                <a:latin typeface="Helvetica Neue"/>
                <a:ea typeface="Helvetica Neue"/>
                <a:cs typeface="Helvetica Neue"/>
              </a:rPr>
              <a:t>$0 API-стоимость на кадр</a:t>
            </a:r>
          </a:p>
        </p:txBody>
      </p:sp>
    </p:spTree>
    <p:extLst>
      <p:ext uri="{BB962C8B-B14F-4D97-AF65-F5344CB8AC3E}">
        <p14:creationId xmlns:p14="http://schemas.microsoft.com/office/powerpoint/2010/main" val="211194100"/>
      </p:ext>
    </p:extLst>
  </p:cSld>
</p:sld>
</file>

<file path=ppt/slides/slide5.xml><?xml version="1.0" encoding="utf-8"?>
<p:sld xmlns:p="http://schemas.openxmlformats.org/presentationml/2006/main">
  <p:cSld>
    <p:bg>
      <p:bgPr>
        <a:solidFill xmlns:a="http://schemas.openxmlformats.org/drawingml/2006/main">
          <a:srgbClr val="F4F6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BF77DB7-02D4-4CDF-AA9C-71B433E623E9}"/>
              </a:ext>
            </a:extLst>
          </p:cNvPr>
          <p:cNvSpPr>
            <a:spLocks xmlns:a="http://schemas.openxmlformats.org/drawingml/2006/main" noGrp="1"/>
          </p:cNvSpPr>
          <p:nvPr/>
        </p:nvSpPr>
        <p:spPr>
          <a:xfrm xmlns:a="http://schemas.openxmlformats.org/drawingml/2006/main">
            <a:off x="609600" y="5143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382B"/>
                </a:solidFill>
                <a:latin typeface="Helvetica Neue"/>
                <a:ea typeface="Helvetica Neue"/>
                <a:cs typeface="Helvetica Neue"/>
              </a:defRPr>
            </a:defPPr>
          </a:lstStyle>
          <a:p xmlns:a="http://schemas.openxmlformats.org/drawingml/2006/main">
            <a:pPr>
              <a:defRPr sz="3225" b="1">
                <a:solidFill>
                  <a:srgbClr val="16382B"/>
                </a:solidFill>
                <a:latin typeface="Helvetica Neue"/>
                <a:ea typeface="Helvetica Neue"/>
                <a:cs typeface="Helvetica Neue"/>
              </a:defRPr>
            </a:pPr>
            <a:r>
              <a:rPr sz="3225" b="1">
                <a:solidFill>
                  <a:srgbClr val="16382B"/>
                </a:solidFill>
                <a:latin typeface="Helvetica Neue"/>
                <a:ea typeface="Helvetica Neue"/>
                <a:cs typeface="Helvetica Neue"/>
              </a:rPr>
              <a:t>99,27%: занятость мест на известных камерах</a:t>
            </a:r>
          </a:p>
        </p:txBody>
      </p:sp>
      <p:sp>
        <p:nvSpPr>
          <p:cNvPr id="2" name="">
            <a:extLst xmlns:a="http://schemas.openxmlformats.org/drawingml/2006/main">
              <a:ext uri="{FF2B5EF4-FFF2-40B4-BE49-F238E27FC236}">
                <a16:creationId xmlns:a16="http://schemas.microsoft.com/office/drawing/2014/main" id="{3A5386DB-D4A1-4D93-8CEB-B1A547C3216C}"/>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DDE6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44985A8-7BBE-42B5-991C-B5B76F8DE13E}"/>
              </a:ext>
            </a:extLst>
          </p:cNvPr>
          <p:cNvSpPr>
            <a:spLocks xmlns:a="http://schemas.openxmlformats.org/drawingml/2006/main" noGrp="1"/>
          </p:cNvSpPr>
          <p:nvPr/>
        </p:nvSpPr>
        <p:spPr>
          <a:xfrm xmlns:a="http://schemas.openxmlformats.org/drawingml/2006/main">
            <a:off x="609600" y="6429375"/>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1">
                <a:solidFill>
                  <a:srgbClr val="6F8076"/>
                </a:solidFill>
                <a:latin typeface="Helvetica Neue"/>
                <a:ea typeface="Helvetica Neue"/>
                <a:cs typeface="Helvetica Neue"/>
              </a:defRPr>
            </a:defPPr>
          </a:lstStyle>
          <a:p xmlns:a="http://schemas.openxmlformats.org/drawingml/2006/main">
            <a:pPr>
              <a:defRPr sz="900" b="1">
                <a:solidFill>
                  <a:srgbClr val="6F8076"/>
                </a:solidFill>
                <a:latin typeface="Helvetica Neue"/>
                <a:ea typeface="Helvetica Neue"/>
                <a:cs typeface="Helvetica Neue"/>
              </a:defRPr>
            </a:pPr>
            <a:r>
              <a:rPr sz="900" b="1">
                <a:solidFill>
                  <a:srgbClr val="6F8076"/>
                </a:solidFill>
                <a:latin typeface="Helvetica Neue"/>
                <a:ea typeface="Helvetica Neue"/>
                <a:cs typeface="Helvetica Neue"/>
              </a:rPr>
              <a:t>BAYWATCH</a:t>
            </a:r>
          </a:p>
        </p:txBody>
      </p:sp>
      <p:sp>
        <p:nvSpPr>
          <p:cNvPr id="4" name="">
            <a:extLst xmlns:a="http://schemas.openxmlformats.org/drawingml/2006/main">
              <a:ext uri="{FF2B5EF4-FFF2-40B4-BE49-F238E27FC236}">
                <a16:creationId xmlns:a16="http://schemas.microsoft.com/office/drawing/2014/main" id="{DBD2D710-865C-4515-8EE6-688C1544C4ED}"/>
              </a:ext>
            </a:extLst>
          </p:cNvPr>
          <p:cNvSpPr>
            <a:spLocks xmlns:a="http://schemas.openxmlformats.org/drawingml/2006/main" noGrp="1"/>
          </p:cNvSpPr>
          <p:nvPr/>
        </p:nvSpPr>
        <p:spPr>
          <a:xfrm xmlns:a="http://schemas.openxmlformats.org/drawingml/2006/main">
            <a:off x="11029950" y="642937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F8076"/>
                </a:solidFill>
                <a:latin typeface="Helvetica Neue"/>
                <a:ea typeface="Helvetica Neue"/>
                <a:cs typeface="Helvetica Neue"/>
              </a:defRPr>
            </a:defPPr>
          </a:lstStyle>
          <a:p xmlns:a="http://schemas.openxmlformats.org/drawingml/2006/main">
            <a:pPr>
              <a:defRPr sz="900" b="0">
                <a:solidFill>
                  <a:srgbClr val="6F8076"/>
                </a:solidFill>
                <a:latin typeface="Helvetica Neue"/>
                <a:ea typeface="Helvetica Neue"/>
                <a:cs typeface="Helvetica Neue"/>
              </a:defRPr>
            </a:pPr>
            <a:r>
              <a:rPr sz="900" b="0">
                <a:solidFill>
                  <a:srgbClr val="6F8076"/>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BFBB7AC2-7123-49FF-8AB6-96EF1B1518F8}"/>
              </a:ext>
            </a:extLst>
          </p:cNvPr>
          <p:cNvSpPr>
            <a:spLocks xmlns:a="http://schemas.openxmlformats.org/drawingml/2006/main" noGrp="1"/>
          </p:cNvSpPr>
          <p:nvPr/>
        </p:nvSpPr>
        <p:spPr>
          <a:xfrm xmlns:a="http://schemas.openxmlformats.org/drawingml/2006/main">
            <a:off x="609600" y="1733550"/>
            <a:ext cx="342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16664B"/>
                </a:solidFill>
                <a:latin typeface="Helvetica Neue"/>
                <a:ea typeface="Helvetica Neue"/>
                <a:cs typeface="Helvetica Neue"/>
              </a:defRPr>
            </a:defPPr>
          </a:lstStyle>
          <a:p xmlns:a="http://schemas.openxmlformats.org/drawingml/2006/main">
            <a:pPr>
              <a:defRPr sz="5100" b="1">
                <a:solidFill>
                  <a:srgbClr val="16664B"/>
                </a:solidFill>
                <a:latin typeface="Helvetica Neue"/>
                <a:ea typeface="Helvetica Neue"/>
                <a:cs typeface="Helvetica Neue"/>
              </a:defRPr>
            </a:pPr>
            <a:r>
              <a:rPr sz="5100" b="1">
                <a:solidFill>
                  <a:srgbClr val="16664B"/>
                </a:solidFill>
                <a:latin typeface="Helvetica Neue"/>
                <a:ea typeface="Helvetica Neue"/>
                <a:cs typeface="Helvetica Neue"/>
              </a:rPr>
              <a:t>1 511</a:t>
            </a:r>
          </a:p>
        </p:txBody>
      </p:sp>
      <p:sp>
        <p:nvSpPr>
          <p:cNvPr id="6" name="">
            <a:extLst xmlns:a="http://schemas.openxmlformats.org/drawingml/2006/main">
              <a:ext uri="{FF2B5EF4-FFF2-40B4-BE49-F238E27FC236}">
                <a16:creationId xmlns:a16="http://schemas.microsoft.com/office/drawing/2014/main" id="{3351ACC1-6569-4B41-8187-6AD05826C47D}"/>
              </a:ext>
            </a:extLst>
          </p:cNvPr>
          <p:cNvSpPr>
            <a:spLocks xmlns:a="http://schemas.openxmlformats.org/drawingml/2006/main" noGrp="1"/>
          </p:cNvSpPr>
          <p:nvPr/>
        </p:nvSpPr>
        <p:spPr>
          <a:xfrm xmlns:a="http://schemas.openxmlformats.org/drawingml/2006/main">
            <a:off x="609600" y="2628900"/>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F8076"/>
                </a:solidFill>
                <a:latin typeface="Helvetica Neue"/>
                <a:ea typeface="Helvetica Neue"/>
                <a:cs typeface="Helvetica Neue"/>
              </a:defRPr>
            </a:defPPr>
          </a:lstStyle>
          <a:p xmlns:a="http://schemas.openxmlformats.org/drawingml/2006/main">
            <a:pPr>
              <a:defRPr sz="1800" b="0">
                <a:solidFill>
                  <a:srgbClr val="6F8076"/>
                </a:solidFill>
                <a:latin typeface="Helvetica Neue"/>
                <a:ea typeface="Helvetica Neue"/>
                <a:cs typeface="Helvetica Neue"/>
              </a:defRPr>
            </a:pPr>
            <a:r>
              <a:rPr sz="1800" b="0">
                <a:solidFill>
                  <a:srgbClr val="6F8076"/>
                </a:solidFill>
                <a:latin typeface="Helvetica Neue"/>
                <a:ea typeface="Helvetica Neue"/>
                <a:cs typeface="Helvetica Neue"/>
              </a:rPr>
              <a:t>мест · 27 тестовых кадров</a:t>
            </a:r>
          </a:p>
        </p:txBody>
      </p:sp>
      <p:sp>
        <p:nvSpPr>
          <p:cNvPr id="7" name="">
            <a:extLst xmlns:a="http://schemas.openxmlformats.org/drawingml/2006/main">
              <a:ext uri="{FF2B5EF4-FFF2-40B4-BE49-F238E27FC236}">
                <a16:creationId xmlns:a16="http://schemas.microsoft.com/office/drawing/2014/main" id="{5C465C91-14D5-4872-8893-B494F56E05A1}"/>
              </a:ext>
            </a:extLst>
          </p:cNvPr>
          <p:cNvSpPr>
            <a:spLocks xmlns:a="http://schemas.openxmlformats.org/drawingml/2006/main" noGrp="1"/>
          </p:cNvSpPr>
          <p:nvPr/>
        </p:nvSpPr>
        <p:spPr>
          <a:xfrm xmlns:a="http://schemas.openxmlformats.org/drawingml/2006/main">
            <a:off x="609600" y="3562350"/>
            <a:ext cx="352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6382B"/>
                </a:solidFill>
                <a:latin typeface="Helvetica Neue"/>
                <a:ea typeface="Helvetica Neue"/>
                <a:cs typeface="Helvetica Neue"/>
              </a:defRPr>
            </a:defPPr>
          </a:lstStyle>
          <a:p xmlns:a="http://schemas.openxmlformats.org/drawingml/2006/main">
            <a:pPr>
              <a:defRPr sz="2100" b="0">
                <a:solidFill>
                  <a:srgbClr val="16382B"/>
                </a:solidFill>
                <a:latin typeface="Helvetica Neue"/>
                <a:ea typeface="Helvetica Neue"/>
                <a:cs typeface="Helvetica Neue"/>
              </a:defRPr>
            </a:pPr>
            <a:r>
              <a:rPr sz="2100" b="0">
                <a:solidFill>
                  <a:srgbClr val="16382B"/>
                </a:solidFill>
                <a:latin typeface="Helvetica Neue"/>
                <a:ea typeface="Helvetica Neue"/>
                <a:cs typeface="Helvetica Neue"/>
              </a:rPr>
              <a:t>Новые дни съёмки</a:t>
            </a:r>
          </a:p>
          <a:p xmlns:a="http://schemas.openxmlformats.org/drawingml/2006/main">
            <a:pPr>
              <a:defRPr sz="2100" b="0">
                <a:solidFill>
                  <a:srgbClr val="16382B"/>
                </a:solidFill>
                <a:latin typeface="Helvetica Neue"/>
                <a:ea typeface="Helvetica Neue"/>
                <a:cs typeface="Helvetica Neue"/>
              </a:defRPr>
            </a:pPr>
            <a:r>
              <a:rPr sz="2100" b="0">
                <a:solidFill>
                  <a:srgbClr val="16382B"/>
                </a:solidFill>
                <a:latin typeface="Helvetica Neue"/>
                <a:ea typeface="Helvetica Neue"/>
                <a:cs typeface="Helvetica Neue"/>
              </a:rPr>
              <a:t>Те же три камеры</a:t>
            </a:r>
          </a:p>
        </p:txBody>
      </p:sp>
      <p:sp>
        <p:nvSpPr>
          <p:cNvPr id="8" name="">
            <a:extLst xmlns:a="http://schemas.openxmlformats.org/drawingml/2006/main">
              <a:ext uri="{FF2B5EF4-FFF2-40B4-BE49-F238E27FC236}">
                <a16:creationId xmlns:a16="http://schemas.microsoft.com/office/drawing/2014/main" id="{27D0394A-7E19-4223-9397-8E01C46C84D1}"/>
              </a:ext>
            </a:extLst>
          </p:cNvPr>
          <p:cNvSpPr>
            <a:spLocks xmlns:a="http://schemas.openxmlformats.org/drawingml/2006/main" noGrp="1"/>
          </p:cNvSpPr>
          <p:nvPr/>
        </p:nvSpPr>
        <p:spPr>
          <a:xfrm xmlns:a="http://schemas.openxmlformats.org/drawingml/2006/main">
            <a:off x="609600" y="4914900"/>
            <a:ext cx="381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A7B49"/>
                </a:solidFill>
                <a:latin typeface="Helvetica Neue"/>
                <a:ea typeface="Helvetica Neue"/>
                <a:cs typeface="Helvetica Neue"/>
              </a:defRPr>
            </a:defPPr>
          </a:lstStyle>
          <a:p xmlns:a="http://schemas.openxmlformats.org/drawingml/2006/main">
            <a:pPr>
              <a:defRPr sz="1950" b="1">
                <a:solidFill>
                  <a:srgbClr val="CA7B49"/>
                </a:solidFill>
                <a:latin typeface="Helvetica Neue"/>
                <a:ea typeface="Helvetica Neue"/>
                <a:cs typeface="Helvetica Neue"/>
              </a:defRPr>
            </a:pPr>
            <a:r>
              <a:rPr sz="1950" b="1">
                <a:solidFill>
                  <a:srgbClr val="CA7B49"/>
                </a:solidFill>
                <a:latin typeface="Helvetica Neue"/>
                <a:ea typeface="Helvetica Neue"/>
                <a:cs typeface="Helvetica Neue"/>
              </a:rPr>
              <a:t>При исключении камеры:</a:t>
            </a:r>
          </a:p>
          <a:p xmlns:a="http://schemas.openxmlformats.org/drawingml/2006/main">
            <a:pPr>
              <a:defRPr sz="1950" b="1">
                <a:solidFill>
                  <a:srgbClr val="CA7B49"/>
                </a:solidFill>
                <a:latin typeface="Helvetica Neue"/>
                <a:ea typeface="Helvetica Neue"/>
                <a:cs typeface="Helvetica Neue"/>
              </a:defRPr>
            </a:pPr>
            <a:r>
              <a:rPr sz="1950" b="1">
                <a:solidFill>
                  <a:srgbClr val="CA7B49"/>
                </a:solidFill>
                <a:latin typeface="Helvetica Neue"/>
                <a:ea typeface="Helvetica Neue"/>
                <a:cs typeface="Helvetica Neue"/>
              </a:rPr>
              <a:t>худший результат 84,46%</a:t>
            </a:r>
          </a:p>
        </p:txBody>
      </p:sp>
      <p:graphicFrame>
        <p:nvGraphicFramePr>
          <p:cNvPr id="9" name="">
            <a:extLst xmlns:a="http://schemas.openxmlformats.org/drawingml/2006/main">
              <a:ext uri="{FF2B5EF4-FFF2-40B4-BE49-F238E27FC236}">
                <a16:creationId xmlns:a16="http://schemas.microsoft.com/office/drawing/2014/main" id="{4F59B03A-55F8-43A2-B721-46571792DF19}"/>
              </a:ext>
            </a:extLst>
          </p:cNvPr>
          <p:cNvGraphicFramePr/>
          <p:nvPr/>
        </p:nvGraphicFramePr>
        <p:xfrm>
          <a:off xmlns:a="http://schemas.openxmlformats.org/drawingml/2006/main" x="4810125" y="1771650"/>
          <a:ext xmlns:a="http://schemas.openxmlformats.org/drawingml/2006/main" cx="6781800" cy="3371850"/>
        </p:xfrm>
        <a:graphic xmlns:a="http://schemas.openxmlformats.org/drawingml/2006/main">
          <a:graphicData uri="http://schemas.openxmlformats.org/drawingml/2006/table">
            <a:tbl>
              <a:tblPr/>
              <a:tblGrid>
                <a:gridCol w="3476625"/>
                <a:gridCol w="3305175"/>
              </a:tblGrid>
              <a:tr h="561975">
                <a:tc>
                  <a:txBody>
                    <a:bodyPr/>
                    <a:lstStyle/>
                    <a:p>
                      <a:r>
                        <a:rPr sz="1425" b="1">
                          <a:solidFill>
                            <a:srgbClr val="FFFFFF"/>
                          </a:solidFill>
                          <a:latin typeface="Helvetica Neue"/>
                          <a:ea typeface="Helvetica Neue"/>
                          <a:cs typeface="Helvetica Neue"/>
                        </a:rPr>
                        <a:t>Показатель</a:t>
                      </a:r>
                    </a:p>
                  </a:txBody>
                  <a:tcPr marL="91440" marR="91440" marT="45720" marB="45720">
                    <a:solidFill>
                      <a:srgbClr val="16664B"/>
                    </a:solidFill>
                  </a:tcPr>
                </a:tc>
                <a:tc>
                  <a:txBody>
                    <a:bodyPr/>
                    <a:lstStyle/>
                    <a:p>
                      <a:r>
                        <a:rPr sz="1425" b="1">
                          <a:solidFill>
                            <a:srgbClr val="FFFFFF"/>
                          </a:solidFill>
                          <a:latin typeface="Helvetica Neue"/>
                          <a:ea typeface="Helvetica Neue"/>
                          <a:cs typeface="Helvetica Neue"/>
                        </a:rPr>
                        <a:t>Результат</a:t>
                      </a:r>
                    </a:p>
                  </a:txBody>
                  <a:tcPr marL="91440" marR="91440" marT="45720" marB="45720">
                    <a:solidFill>
                      <a:srgbClr val="16664B"/>
                    </a:solidFill>
                  </a:tcPr>
                </a:tc>
              </a:tr>
              <a:tr h="561975">
                <a:tc>
                  <a:txBody>
                    <a:bodyPr/>
                    <a:lstStyle/>
                    <a:p>
                      <a:r>
                        <a:rPr sz="1650" b="0">
                          <a:solidFill>
                            <a:srgbClr val="16382B"/>
                          </a:solidFill>
                          <a:latin typeface="Helvetica Neue"/>
                          <a:ea typeface="Helvetica Neue"/>
                          <a:cs typeface="Helvetica Neue"/>
                        </a:rPr>
                        <a:t>Accuracy / F1</a:t>
                      </a:r>
                    </a:p>
                  </a:txBody>
                  <a:tcPr marL="91440" marR="91440" marT="45720" marB="45720">
                    <a:solidFill>
                      <a:srgbClr val="FFFFFF"/>
                    </a:solidFill>
                  </a:tcPr>
                </a:tc>
                <a:tc>
                  <a:txBody>
                    <a:bodyPr/>
                    <a:lstStyle/>
                    <a:p>
                      <a:r>
                        <a:rPr sz="1650" b="0">
                          <a:solidFill>
                            <a:srgbClr val="16382B"/>
                          </a:solidFill>
                          <a:latin typeface="Helvetica Neue"/>
                          <a:ea typeface="Helvetica Neue"/>
                          <a:cs typeface="Helvetica Neue"/>
                        </a:rPr>
                        <a:t>99,27% / 99,29%</a:t>
                      </a:r>
                    </a:p>
                  </a:txBody>
                  <a:tcPr marL="91440" marR="91440" marT="45720" marB="45720">
                    <a:solidFill>
                      <a:srgbClr val="FFFFFF"/>
                    </a:solidFill>
                  </a:tcPr>
                </a:tc>
              </a:tr>
              <a:tr h="561975">
                <a:tc>
                  <a:txBody>
                    <a:bodyPr/>
                    <a:lstStyle/>
                    <a:p>
                      <a:r>
                        <a:rPr sz="1650" b="0">
                          <a:solidFill>
                            <a:srgbClr val="16382B"/>
                          </a:solidFill>
                          <a:latin typeface="Helvetica Neue"/>
                          <a:ea typeface="Helvetica Neue"/>
                          <a:cs typeface="Helvetica Neue"/>
                        </a:rPr>
                        <a:t>Ошибки FP / FN</a:t>
                      </a:r>
                    </a:p>
                  </a:txBody>
                  <a:tcPr marL="91440" marR="91440" marT="45720" marB="45720">
                    <a:solidFill>
                      <a:srgbClr val="EBF0E5"/>
                    </a:solidFill>
                  </a:tcPr>
                </a:tc>
                <a:tc>
                  <a:txBody>
                    <a:bodyPr/>
                    <a:lstStyle/>
                    <a:p>
                      <a:r>
                        <a:rPr sz="1650" b="0">
                          <a:solidFill>
                            <a:srgbClr val="16382B"/>
                          </a:solidFill>
                          <a:latin typeface="Helvetica Neue"/>
                          <a:ea typeface="Helvetica Neue"/>
                          <a:cs typeface="Helvetica Neue"/>
                        </a:rPr>
                        <a:t>0 / 11</a:t>
                      </a:r>
                    </a:p>
                  </a:txBody>
                  <a:tcPr marL="91440" marR="91440" marT="45720" marB="45720">
                    <a:solidFill>
                      <a:srgbClr val="EBF0E5"/>
                    </a:solidFill>
                  </a:tcPr>
                </a:tc>
              </a:tr>
              <a:tr h="561975">
                <a:tc>
                  <a:txBody>
                    <a:bodyPr/>
                    <a:lstStyle/>
                    <a:p>
                      <a:r>
                        <a:rPr sz="1650" b="0">
                          <a:solidFill>
                            <a:srgbClr val="16382B"/>
                          </a:solidFill>
                          <a:latin typeface="Helvetica Neue"/>
                          <a:ea typeface="Helvetica Neue"/>
                          <a:cs typeface="Helvetica Neue"/>
                        </a:rPr>
                        <a:t>Baseline accuracy</a:t>
                      </a:r>
                    </a:p>
                  </a:txBody>
                  <a:tcPr marL="91440" marR="91440" marT="45720" marB="45720">
                    <a:solidFill>
                      <a:srgbClr val="FFFFFF"/>
                    </a:solidFill>
                  </a:tcPr>
                </a:tc>
                <a:tc>
                  <a:txBody>
                    <a:bodyPr/>
                    <a:lstStyle/>
                    <a:p>
                      <a:r>
                        <a:rPr sz="1650" b="0">
                          <a:solidFill>
                            <a:srgbClr val="16382B"/>
                          </a:solidFill>
                          <a:latin typeface="Helvetica Neue"/>
                          <a:ea typeface="Helvetica Neue"/>
                          <a:cs typeface="Helvetica Neue"/>
                        </a:rPr>
                        <a:t>48,58%</a:t>
                      </a:r>
                    </a:p>
                  </a:txBody>
                  <a:tcPr marL="91440" marR="91440" marT="45720" marB="45720">
                    <a:solidFill>
                      <a:srgbClr val="FFFFFF"/>
                    </a:solidFill>
                  </a:tcPr>
                </a:tc>
              </a:tr>
              <a:tr h="561975">
                <a:tc>
                  <a:txBody>
                    <a:bodyPr/>
                    <a:lstStyle/>
                    <a:p>
                      <a:r>
                        <a:rPr sz="1650" b="0">
                          <a:solidFill>
                            <a:srgbClr val="16382B"/>
                          </a:solidFill>
                          <a:latin typeface="Helvetica Neue"/>
                          <a:ea typeface="Helvetica Neue"/>
                          <a:cs typeface="Helvetica Neue"/>
                        </a:rPr>
                        <a:t>Покрытие 20/80</a:t>
                      </a:r>
                    </a:p>
                  </a:txBody>
                  <a:tcPr marL="91440" marR="91440" marT="45720" marB="45720">
                    <a:solidFill>
                      <a:srgbClr val="EBF0E5"/>
                    </a:solidFill>
                  </a:tcPr>
                </a:tc>
                <a:tc>
                  <a:txBody>
                    <a:bodyPr/>
                    <a:lstStyle/>
                    <a:p>
                      <a:r>
                        <a:rPr sz="1650" b="0">
                          <a:solidFill>
                            <a:srgbClr val="16382B"/>
                          </a:solidFill>
                          <a:latin typeface="Helvetica Neue"/>
                          <a:ea typeface="Helvetica Neue"/>
                          <a:cs typeface="Helvetica Neue"/>
                        </a:rPr>
                        <a:t>98,94%</a:t>
                      </a:r>
                    </a:p>
                  </a:txBody>
                  <a:tcPr marL="91440" marR="91440" marT="45720" marB="45720">
                    <a:solidFill>
                      <a:srgbClr val="EBF0E5"/>
                    </a:solidFill>
                  </a:tcPr>
                </a:tc>
              </a:tr>
              <a:tr h="561975">
                <a:tc>
                  <a:txBody>
                    <a:bodyPr/>
                    <a:lstStyle/>
                    <a:p>
                      <a:r>
                        <a:rPr sz="1650" b="0">
                          <a:solidFill>
                            <a:srgbClr val="16382B"/>
                          </a:solidFill>
                          <a:latin typeface="Helvetica Neue"/>
                          <a:ea typeface="Helvetica Neue"/>
                          <a:cs typeface="Helvetica Neue"/>
                        </a:rPr>
                        <a:t>Точность принятых</a:t>
                      </a:r>
                    </a:p>
                  </a:txBody>
                  <a:tcPr marL="91440" marR="91440" marT="45720" marB="45720">
                    <a:solidFill>
                      <a:srgbClr val="FFFFFF"/>
                    </a:solidFill>
                  </a:tcPr>
                </a:tc>
                <a:tc>
                  <a:txBody>
                    <a:bodyPr/>
                    <a:lstStyle/>
                    <a:p>
                      <a:r>
                        <a:rPr sz="1650" b="0">
                          <a:solidFill>
                            <a:srgbClr val="16382B"/>
                          </a:solidFill>
                          <a:latin typeface="Helvetica Neue"/>
                          <a:ea typeface="Helvetica Neue"/>
                          <a:cs typeface="Helvetica Neue"/>
                        </a:rPr>
                        <a:t>99,67%</a:t>
                      </a:r>
                    </a:p>
                  </a:txBody>
                  <a:tcPr marL="91440" marR="91440" marT="45720" marB="45720">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1564EF54-997D-46C4-8E07-8DA884B56C23}"/>
              </a:ext>
            </a:extLst>
          </p:cNvPr>
          <p:cNvSpPr>
            <a:spLocks xmlns:a="http://schemas.openxmlformats.org/drawingml/2006/main" noGrp="1"/>
          </p:cNvSpPr>
          <p:nvPr/>
        </p:nvSpPr>
        <p:spPr>
          <a:xfrm xmlns:a="http://schemas.openxmlformats.org/drawingml/2006/main">
            <a:off x="4867275" y="5391150"/>
            <a:ext cx="666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F8076"/>
                </a:solidFill>
                <a:latin typeface="Helvetica Neue"/>
                <a:ea typeface="Helvetica Neue"/>
                <a:cs typeface="Helvetica Neue"/>
              </a:defRPr>
            </a:defPPr>
          </a:lstStyle>
          <a:p xmlns:a="http://schemas.openxmlformats.org/drawingml/2006/main">
            <a:pPr>
              <a:defRPr sz="1350" b="0">
                <a:solidFill>
                  <a:srgbClr val="6F8076"/>
                </a:solidFill>
                <a:latin typeface="Helvetica Neue"/>
                <a:ea typeface="Helvetica Neue"/>
                <a:cs typeface="Helvetica Neue"/>
              </a:defRPr>
            </a:pPr>
            <a:r>
              <a:rPr sz="1350" b="0">
                <a:solidFill>
                  <a:srgbClr val="6F8076"/>
                </a:solidFill>
                <a:latin typeface="Helvetica Neue"/>
                <a:ea typeface="Helvetica Neue"/>
                <a:cs typeface="Helvetica Neue"/>
              </a:rPr>
              <a:t>Порог 0,5 для полного теста. 20/80 — отказ по оценке модели.</a:t>
            </a:r>
          </a:p>
          <a:p xmlns:a="http://schemas.openxmlformats.org/drawingml/2006/main">
            <a:pPr>
              <a:defRPr sz="1350" b="0">
                <a:solidFill>
                  <a:srgbClr val="6F8076"/>
                </a:solidFill>
                <a:latin typeface="Helvetica Neue"/>
                <a:ea typeface="Helvetica Neue"/>
                <a:cs typeface="Helvetica Neue"/>
              </a:defRPr>
            </a:pPr>
            <a:r>
              <a:rPr sz="1350" b="0">
                <a:solidFill>
                  <a:srgbClr val="6F8076"/>
                </a:solidFill>
                <a:latin typeface="Helvetica Neue"/>
                <a:ea typeface="Helvetica Neue"/>
                <a:cs typeface="Helvetica Neue"/>
              </a:rPr>
              <a:t>Фильтр качества в эти цифры не входит.</a:t>
            </a:r>
          </a:p>
        </p:txBody>
      </p:sp>
    </p:spTree>
    <p:extLst>
      <p:ext uri="{BB962C8B-B14F-4D97-AF65-F5344CB8AC3E}">
        <p14:creationId xmlns:p14="http://schemas.microsoft.com/office/powerpoint/2010/main" val="1920054993"/>
      </p:ext>
    </p:extLst>
  </p:cSld>
</p:sld>
</file>

<file path=ppt/slides/slide6.xml><?xml version="1.0" encoding="utf-8"?>
<p:sld xmlns:p="http://schemas.openxmlformats.org/presentationml/2006/main">
  <p:cSld>
    <p:bg>
      <p:bgPr>
        <a:solidFill xmlns:a="http://schemas.openxmlformats.org/drawingml/2006/main">
          <a:srgbClr val="F4F6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E98E27F-6169-4293-B966-A2C918570831}"/>
              </a:ext>
            </a:extLst>
          </p:cNvPr>
          <p:cNvSpPr>
            <a:spLocks xmlns:a="http://schemas.openxmlformats.org/drawingml/2006/main" noGrp="1"/>
          </p:cNvSpPr>
          <p:nvPr/>
        </p:nvSpPr>
        <p:spPr>
          <a:xfrm xmlns:a="http://schemas.openxmlformats.org/drawingml/2006/main">
            <a:off x="609600" y="5143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382B"/>
                </a:solidFill>
                <a:latin typeface="Helvetica Neue"/>
                <a:ea typeface="Helvetica Neue"/>
                <a:cs typeface="Helvetica Neue"/>
              </a:defRPr>
            </a:defPPr>
          </a:lstStyle>
          <a:p xmlns:a="http://schemas.openxmlformats.org/drawingml/2006/main">
            <a:pPr>
              <a:defRPr sz="3225" b="1">
                <a:solidFill>
                  <a:srgbClr val="16382B"/>
                </a:solidFill>
                <a:latin typeface="Helvetica Neue"/>
                <a:ea typeface="Helvetica Neue"/>
                <a:cs typeface="Helvetica Neue"/>
              </a:defRPr>
            </a:pPr>
            <a:r>
              <a:rPr sz="3225" b="1">
                <a:solidFill>
                  <a:srgbClr val="16382B"/>
                </a:solidFill>
                <a:latin typeface="Helvetica Neue"/>
                <a:ea typeface="Helvetica Neue"/>
                <a:cs typeface="Helvetica Neue"/>
              </a:rPr>
              <a:t>Скорость и ограничения распознавания</a:t>
            </a:r>
          </a:p>
        </p:txBody>
      </p:sp>
      <p:sp>
        <p:nvSpPr>
          <p:cNvPr id="2" name="">
            <a:extLst xmlns:a="http://schemas.openxmlformats.org/drawingml/2006/main">
              <a:ext uri="{FF2B5EF4-FFF2-40B4-BE49-F238E27FC236}">
                <a16:creationId xmlns:a16="http://schemas.microsoft.com/office/drawing/2014/main" id="{481D4BEF-1C35-44DD-81F0-F48541A78E7C}"/>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DDE6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9A5A1CC-5B74-4061-8D47-8989981F5049}"/>
              </a:ext>
            </a:extLst>
          </p:cNvPr>
          <p:cNvSpPr>
            <a:spLocks xmlns:a="http://schemas.openxmlformats.org/drawingml/2006/main" noGrp="1"/>
          </p:cNvSpPr>
          <p:nvPr/>
        </p:nvSpPr>
        <p:spPr>
          <a:xfrm xmlns:a="http://schemas.openxmlformats.org/drawingml/2006/main">
            <a:off x="609600" y="6429375"/>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1">
                <a:solidFill>
                  <a:srgbClr val="6F8076"/>
                </a:solidFill>
                <a:latin typeface="Helvetica Neue"/>
                <a:ea typeface="Helvetica Neue"/>
                <a:cs typeface="Helvetica Neue"/>
              </a:defRPr>
            </a:defPPr>
          </a:lstStyle>
          <a:p xmlns:a="http://schemas.openxmlformats.org/drawingml/2006/main">
            <a:pPr>
              <a:defRPr sz="900" b="1">
                <a:solidFill>
                  <a:srgbClr val="6F8076"/>
                </a:solidFill>
                <a:latin typeface="Helvetica Neue"/>
                <a:ea typeface="Helvetica Neue"/>
                <a:cs typeface="Helvetica Neue"/>
              </a:defRPr>
            </a:pPr>
            <a:r>
              <a:rPr sz="900" b="1">
                <a:solidFill>
                  <a:srgbClr val="6F8076"/>
                </a:solidFill>
                <a:latin typeface="Helvetica Neue"/>
                <a:ea typeface="Helvetica Neue"/>
                <a:cs typeface="Helvetica Neue"/>
              </a:rPr>
              <a:t>BAYWATCH</a:t>
            </a:r>
          </a:p>
        </p:txBody>
      </p:sp>
      <p:sp>
        <p:nvSpPr>
          <p:cNvPr id="4" name="">
            <a:extLst xmlns:a="http://schemas.openxmlformats.org/drawingml/2006/main">
              <a:ext uri="{FF2B5EF4-FFF2-40B4-BE49-F238E27FC236}">
                <a16:creationId xmlns:a16="http://schemas.microsoft.com/office/drawing/2014/main" id="{DEDC6154-6E19-4684-A87C-6F60328CF520}"/>
              </a:ext>
            </a:extLst>
          </p:cNvPr>
          <p:cNvSpPr>
            <a:spLocks xmlns:a="http://schemas.openxmlformats.org/drawingml/2006/main" noGrp="1"/>
          </p:cNvSpPr>
          <p:nvPr/>
        </p:nvSpPr>
        <p:spPr>
          <a:xfrm xmlns:a="http://schemas.openxmlformats.org/drawingml/2006/main">
            <a:off x="11029950" y="642937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F8076"/>
                </a:solidFill>
                <a:latin typeface="Helvetica Neue"/>
                <a:ea typeface="Helvetica Neue"/>
                <a:cs typeface="Helvetica Neue"/>
              </a:defRPr>
            </a:defPPr>
          </a:lstStyle>
          <a:p xmlns:a="http://schemas.openxmlformats.org/drawingml/2006/main">
            <a:pPr>
              <a:defRPr sz="900" b="0">
                <a:solidFill>
                  <a:srgbClr val="6F8076"/>
                </a:solidFill>
                <a:latin typeface="Helvetica Neue"/>
                <a:ea typeface="Helvetica Neue"/>
                <a:cs typeface="Helvetica Neue"/>
              </a:defRPr>
            </a:pPr>
            <a:r>
              <a:rPr sz="900" b="0">
                <a:solidFill>
                  <a:srgbClr val="6F8076"/>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58456452-7AF9-4A9E-9A47-A45243EF9E80}"/>
              </a:ext>
            </a:extLst>
          </p:cNvPr>
          <p:cNvSpPr>
            <a:spLocks xmlns:a="http://schemas.openxmlformats.org/drawingml/2006/main" noGrp="1"/>
          </p:cNvSpPr>
          <p:nvPr/>
        </p:nvSpPr>
        <p:spPr>
          <a:xfrm xmlns:a="http://schemas.openxmlformats.org/drawingml/2006/main">
            <a:off x="609600" y="1828800"/>
            <a:ext cx="561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16664B"/>
                </a:solidFill>
                <a:latin typeface="Helvetica Neue"/>
                <a:ea typeface="Helvetica Neue"/>
                <a:cs typeface="Helvetica Neue"/>
              </a:defRPr>
            </a:defPPr>
          </a:lstStyle>
          <a:p xmlns:a="http://schemas.openxmlformats.org/drawingml/2006/main">
            <a:pPr>
              <a:defRPr sz="4800" b="1">
                <a:solidFill>
                  <a:srgbClr val="16664B"/>
                </a:solidFill>
                <a:latin typeface="Helvetica Neue"/>
                <a:ea typeface="Helvetica Neue"/>
                <a:cs typeface="Helvetica Neue"/>
              </a:defRPr>
            </a:pPr>
            <a:r>
              <a:rPr sz="4800" b="1">
                <a:solidFill>
                  <a:srgbClr val="16664B"/>
                </a:solidFill>
                <a:latin typeface="Helvetica Neue"/>
                <a:ea typeface="Helvetica Neue"/>
                <a:cs typeface="Helvetica Neue"/>
              </a:rPr>
              <a:t>58–127 ms</a:t>
            </a:r>
          </a:p>
        </p:txBody>
      </p:sp>
      <p:sp>
        <p:nvSpPr>
          <p:cNvPr id="6" name="">
            <a:extLst xmlns:a="http://schemas.openxmlformats.org/drawingml/2006/main">
              <a:ext uri="{FF2B5EF4-FFF2-40B4-BE49-F238E27FC236}">
                <a16:creationId xmlns:a16="http://schemas.microsoft.com/office/drawing/2014/main" id="{1794ED95-3DE1-448D-8076-8FCA259D728B}"/>
              </a:ext>
            </a:extLst>
          </p:cNvPr>
          <p:cNvSpPr>
            <a:spLocks xmlns:a="http://schemas.openxmlformats.org/drawingml/2006/main" noGrp="1"/>
          </p:cNvSpPr>
          <p:nvPr/>
        </p:nvSpPr>
        <p:spPr>
          <a:xfrm xmlns:a="http://schemas.openxmlformats.org/drawingml/2006/main">
            <a:off x="609600" y="2876550"/>
            <a:ext cx="5857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F8076"/>
                </a:solidFill>
                <a:latin typeface="Helvetica Neue"/>
                <a:ea typeface="Helvetica Neue"/>
                <a:cs typeface="Helvetica Neue"/>
              </a:defRPr>
            </a:defPPr>
          </a:lstStyle>
          <a:p xmlns:a="http://schemas.openxmlformats.org/drawingml/2006/main">
            <a:pPr>
              <a:defRPr sz="1800" b="0">
                <a:solidFill>
                  <a:srgbClr val="6F8076"/>
                </a:solidFill>
                <a:latin typeface="Helvetica Neue"/>
                <a:ea typeface="Helvetica Neue"/>
                <a:cs typeface="Helvetica Neue"/>
              </a:defRPr>
            </a:pPr>
            <a:r>
              <a:rPr sz="1800" b="0">
                <a:solidFill>
                  <a:srgbClr val="6F8076"/>
                </a:solidFill>
                <a:latin typeface="Helvetica Neue"/>
                <a:ea typeface="Helvetica Neue"/>
                <a:cs typeface="Helvetica Neue"/>
              </a:rPr>
              <a:t>отдельные запуски детектора · Apple M5</a:t>
            </a:r>
          </a:p>
        </p:txBody>
      </p:sp>
      <p:sp>
        <p:nvSpPr>
          <p:cNvPr id="7" name="">
            <a:extLst xmlns:a="http://schemas.openxmlformats.org/drawingml/2006/main">
              <a:ext uri="{FF2B5EF4-FFF2-40B4-BE49-F238E27FC236}">
                <a16:creationId xmlns:a16="http://schemas.microsoft.com/office/drawing/2014/main" id="{3A402A30-7947-4CE5-AB11-3FCF0A1D3672}"/>
              </a:ext>
            </a:extLst>
          </p:cNvPr>
          <p:cNvSpPr>
            <a:spLocks xmlns:a="http://schemas.openxmlformats.org/drawingml/2006/main" noGrp="1"/>
          </p:cNvSpPr>
          <p:nvPr/>
        </p:nvSpPr>
        <p:spPr>
          <a:xfrm xmlns:a="http://schemas.openxmlformats.org/drawingml/2006/main">
            <a:off x="609600" y="3943350"/>
            <a:ext cx="56959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382B"/>
                </a:solidFill>
                <a:latin typeface="Helvetica Neue"/>
                <a:ea typeface="Helvetica Neue"/>
                <a:cs typeface="Helvetica Neue"/>
              </a:defRPr>
            </a:defPPr>
          </a:lstStyle>
          <a:p xmlns:a="http://schemas.openxmlformats.org/drawingml/2006/main">
            <a:pPr>
              <a:defRPr sz="2025" b="0">
                <a:solidFill>
                  <a:srgbClr val="16382B"/>
                </a:solidFill>
                <a:latin typeface="Helvetica Neue"/>
                <a:ea typeface="Helvetica Neue"/>
                <a:cs typeface="Helvetica Neue"/>
              </a:defRPr>
            </a:pPr>
            <a:r>
              <a:rPr sz="2025" b="0">
                <a:solidFill>
                  <a:srgbClr val="16382B"/>
                </a:solidFill>
                <a:latin typeface="Helvetica Neue"/>
                <a:ea typeface="Helvetica Neue"/>
                <a:cs typeface="Helvetica Neue"/>
              </a:rPr>
              <a:t>Занятость 100 зон: 13–19 ms</a:t>
            </a:r>
          </a:p>
          <a:p xmlns:a="http://schemas.openxmlformats.org/drawingml/2006/main">
            <a:pPr>
              <a:defRPr sz="2025" b="0">
                <a:solidFill>
                  <a:srgbClr val="16382B"/>
                </a:solidFill>
                <a:latin typeface="Helvetica Neue"/>
                <a:ea typeface="Helvetica Neue"/>
                <a:cs typeface="Helvetica Neue"/>
              </a:defRPr>
            </a:pPr>
            <a:r>
              <a:rPr sz="2025" b="0">
                <a:solidFill>
                  <a:srgbClr val="16382B"/>
                </a:solidFill>
                <a:latin typeface="Helvetica Neue"/>
                <a:ea typeface="Helvetica Neue"/>
                <a:cs typeface="Helvetica Neue"/>
              </a:rPr>
              <a:t>Загрузка и отрисовка вне таймера</a:t>
            </a:r>
          </a:p>
        </p:txBody>
      </p:sp>
      <p:sp>
        <p:nvSpPr>
          <p:cNvPr id="8" name="">
            <a:extLst xmlns:a="http://schemas.openxmlformats.org/drawingml/2006/main">
              <a:ext uri="{FF2B5EF4-FFF2-40B4-BE49-F238E27FC236}">
                <a16:creationId xmlns:a16="http://schemas.microsoft.com/office/drawing/2014/main" id="{E05FA3AD-07A7-443D-8645-3CC19A3E83A3}"/>
              </a:ext>
            </a:extLst>
          </p:cNvPr>
          <p:cNvSpPr>
            <a:spLocks xmlns:a="http://schemas.openxmlformats.org/drawingml/2006/main" noGrp="1"/>
          </p:cNvSpPr>
          <p:nvPr/>
        </p:nvSpPr>
        <p:spPr>
          <a:xfrm xmlns:a="http://schemas.openxmlformats.org/drawingml/2006/main">
            <a:off x="609600" y="5381625"/>
            <a:ext cx="561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6664B"/>
                </a:solidFill>
                <a:latin typeface="Helvetica Neue"/>
                <a:ea typeface="Helvetica Neue"/>
                <a:cs typeface="Helvetica Neue"/>
              </a:defRPr>
            </a:defPPr>
          </a:lstStyle>
          <a:p xmlns:a="http://schemas.openxmlformats.org/drawingml/2006/main">
            <a:pPr>
              <a:defRPr sz="1650" b="0">
                <a:solidFill>
                  <a:srgbClr val="16664B"/>
                </a:solidFill>
                <a:latin typeface="Helvetica Neue"/>
                <a:ea typeface="Helvetica Neue"/>
                <a:cs typeface="Helvetica Neue"/>
              </a:defRPr>
            </a:pPr>
            <a:r>
              <a:rPr sz="1650" b="0">
                <a:solidFill>
                  <a:srgbClr val="16664B"/>
                </a:solidFill>
                <a:latin typeface="Helvetica Neue"/>
                <a:ea typeface="Helvetica Neue"/>
                <a:cs typeface="Helvetica Neue"/>
              </a:rPr>
              <a:t>Скорость устройства жюри видна в UI</a:t>
            </a:r>
          </a:p>
        </p:txBody>
      </p:sp>
      <p:sp>
        <p:nvSpPr>
          <p:cNvPr id="9" name="">
            <a:extLst xmlns:a="http://schemas.openxmlformats.org/drawingml/2006/main">
              <a:ext uri="{FF2B5EF4-FFF2-40B4-BE49-F238E27FC236}">
                <a16:creationId xmlns:a16="http://schemas.microsoft.com/office/drawing/2014/main" id="{148DA1A3-560B-4568-B229-E231A97BD6BD}"/>
              </a:ext>
            </a:extLst>
          </p:cNvPr>
          <p:cNvSpPr>
            <a:spLocks xmlns:a="http://schemas.openxmlformats.org/drawingml/2006/main" noGrp="1"/>
          </p:cNvSpPr>
          <p:nvPr/>
        </p:nvSpPr>
        <p:spPr>
          <a:xfrm xmlns:a="http://schemas.openxmlformats.org/drawingml/2006/main">
            <a:off x="6734175" y="1809750"/>
            <a:ext cx="19050" cy="3848100"/>
          </a:xfrm>
          <a:prstGeom xmlns:a="http://schemas.openxmlformats.org/drawingml/2006/main" prst="rect">
            <a:avLst/>
          </a:prstGeom>
          <a:solidFill xmlns:a="http://schemas.openxmlformats.org/drawingml/2006/main">
            <a:srgbClr val="DDE6D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6CF1E1D-1660-42F2-9B1D-A40B04AB1703}"/>
              </a:ext>
            </a:extLst>
          </p:cNvPr>
          <p:cNvSpPr>
            <a:spLocks xmlns:a="http://schemas.openxmlformats.org/drawingml/2006/main" noGrp="1"/>
          </p:cNvSpPr>
          <p:nvPr/>
        </p:nvSpPr>
        <p:spPr>
          <a:xfrm xmlns:a="http://schemas.openxmlformats.org/drawingml/2006/main">
            <a:off x="7181850" y="1847850"/>
            <a:ext cx="4143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6382B"/>
                </a:solidFill>
                <a:latin typeface="Helvetica Neue"/>
                <a:ea typeface="Helvetica Neue"/>
                <a:cs typeface="Helvetica Neue"/>
              </a:defRPr>
            </a:defPPr>
          </a:lstStyle>
          <a:p xmlns:a="http://schemas.openxmlformats.org/drawingml/2006/main">
            <a:pPr>
              <a:defRPr sz="2550" b="1">
                <a:solidFill>
                  <a:srgbClr val="16382B"/>
                </a:solidFill>
                <a:latin typeface="Helvetica Neue"/>
                <a:ea typeface="Helvetica Neue"/>
                <a:cs typeface="Helvetica Neue"/>
              </a:defRPr>
            </a:pPr>
            <a:r>
              <a:rPr sz="2550" b="1">
                <a:solidFill>
                  <a:srgbClr val="16382B"/>
                </a:solidFill>
                <a:latin typeface="Helvetica Neue"/>
                <a:ea typeface="Helvetica Neue"/>
                <a:cs typeface="Helvetica Neue"/>
              </a:rPr>
              <a:t>Ограничения</a:t>
            </a:r>
          </a:p>
        </p:txBody>
      </p:sp>
      <p:sp>
        <p:nvSpPr>
          <p:cNvPr id="11" name="">
            <a:extLst xmlns:a="http://schemas.openxmlformats.org/drawingml/2006/main">
              <a:ext uri="{FF2B5EF4-FFF2-40B4-BE49-F238E27FC236}">
                <a16:creationId xmlns:a16="http://schemas.microsoft.com/office/drawing/2014/main" id="{B96B722B-3B69-4BDC-9C08-9B4EBEA6AA73}"/>
              </a:ext>
            </a:extLst>
          </p:cNvPr>
          <p:cNvSpPr>
            <a:spLocks xmlns:a="http://schemas.openxmlformats.org/drawingml/2006/main" noGrp="1"/>
          </p:cNvSpPr>
          <p:nvPr/>
        </p:nvSpPr>
        <p:spPr>
          <a:xfrm xmlns:a="http://schemas.openxmlformats.org/drawingml/2006/main">
            <a:off x="7181850" y="2828925"/>
            <a:ext cx="42957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F8076"/>
                </a:solidFill>
                <a:latin typeface="Helvetica Neue"/>
                <a:ea typeface="Helvetica Neue"/>
                <a:cs typeface="Helvetica Neue"/>
              </a:defRPr>
            </a:defPPr>
          </a:lstStyle>
          <a:p xmlns:a="http://schemas.openxmlformats.org/drawingml/2006/main">
            <a:pPr>
              <a:defRPr sz="1950" b="0">
                <a:solidFill>
                  <a:srgbClr val="6F8076"/>
                </a:solidFill>
                <a:latin typeface="Helvetica Neue"/>
                <a:ea typeface="Helvetica Neue"/>
                <a:cs typeface="Helvetica Neue"/>
              </a:defRPr>
            </a:pPr>
            <a:r>
              <a:rPr sz="1950" b="0">
                <a:solidFill>
                  <a:srgbClr val="6F8076"/>
                </a:solidFill>
                <a:latin typeface="Helvetica Neue"/>
                <a:ea typeface="Helvetica Neue"/>
                <a:cs typeface="Helvetica Neue"/>
              </a:rPr>
              <a:t>Мелкие и перекрытые машины</a:t>
            </a:r>
          </a:p>
          <a:p xmlns:a="http://schemas.openxmlformats.org/drawingml/2006/main">
            <a:pPr>
              <a:defRPr sz="1950" b="0">
                <a:solidFill>
                  <a:srgbClr val="6F8076"/>
                </a:solidFill>
                <a:latin typeface="Helvetica Neue"/>
                <a:ea typeface="Helvetica Neue"/>
                <a:cs typeface="Helvetica Neue"/>
              </a:defRPr>
            </a:pPr>
            <a:r>
              <a:rPr sz="1950" b="0">
                <a:solidFill>
                  <a:srgbClr val="6F8076"/>
                </a:solidFill>
                <a:latin typeface="Helvetica Neue"/>
                <a:ea typeface="Helvetica Neue"/>
                <a:cs typeface="Helvetica Neue"/>
              </a:rPr>
              <a:t>Ночь и местные камеры</a:t>
            </a:r>
          </a:p>
          <a:p xmlns:a="http://schemas.openxmlformats.org/drawingml/2006/main">
            <a:pPr>
              <a:defRPr sz="1950" b="0">
                <a:solidFill>
                  <a:srgbClr val="6F8076"/>
                </a:solidFill>
                <a:latin typeface="Helvetica Neue"/>
                <a:ea typeface="Helvetica Neue"/>
                <a:cs typeface="Helvetica Neue"/>
              </a:defRPr>
            </a:pPr>
            <a:r>
              <a:rPr sz="1950" b="0">
                <a:solidFill>
                  <a:srgbClr val="6F8076"/>
                </a:solidFill>
                <a:latin typeface="Helvetica Neue"/>
                <a:ea typeface="Helvetica Neue"/>
                <a:cs typeface="Helvetica Neue"/>
              </a:rPr>
              <a:t>Полнота детектора не измерена</a:t>
            </a:r>
          </a:p>
          <a:p xmlns:a="http://schemas.openxmlformats.org/drawingml/2006/main">
            <a:pPr>
              <a:defRPr sz="1950" b="0">
                <a:solidFill>
                  <a:srgbClr val="6F8076"/>
                </a:solidFill>
                <a:latin typeface="Helvetica Neue"/>
                <a:ea typeface="Helvetica Neue"/>
                <a:cs typeface="Helvetica Neue"/>
              </a:defRPr>
            </a:pPr>
            <a:r>
              <a:rPr sz="1950" b="0">
                <a:solidFill>
                  <a:srgbClr val="6F8076"/>
                </a:solidFill>
                <a:latin typeface="Helvetica Neue"/>
                <a:ea typeface="Helvetica Neue"/>
                <a:cs typeface="Helvetica Neue"/>
              </a:rPr>
              <a:t>Работа 24/7 не проверена</a:t>
            </a:r>
          </a:p>
        </p:txBody>
      </p:sp>
      <p:sp>
        <p:nvSpPr>
          <p:cNvPr id="12" name="">
            <a:extLst xmlns:a="http://schemas.openxmlformats.org/drawingml/2006/main">
              <a:ext uri="{FF2B5EF4-FFF2-40B4-BE49-F238E27FC236}">
                <a16:creationId xmlns:a16="http://schemas.microsoft.com/office/drawing/2014/main" id="{EDE74B32-6697-4730-A497-D9ED06CBA666}"/>
              </a:ext>
            </a:extLst>
          </p:cNvPr>
          <p:cNvSpPr>
            <a:spLocks xmlns:a="http://schemas.openxmlformats.org/drawingml/2006/main" noGrp="1"/>
          </p:cNvSpPr>
          <p:nvPr/>
        </p:nvSpPr>
        <p:spPr>
          <a:xfrm xmlns:a="http://schemas.openxmlformats.org/drawingml/2006/main">
            <a:off x="7181850" y="5400675"/>
            <a:ext cx="4305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A7B49"/>
                </a:solidFill>
                <a:latin typeface="Helvetica Neue"/>
                <a:ea typeface="Helvetica Neue"/>
                <a:cs typeface="Helvetica Neue"/>
              </a:defRPr>
            </a:defPPr>
          </a:lstStyle>
          <a:p xmlns:a="http://schemas.openxmlformats.org/drawingml/2006/main">
            <a:pPr>
              <a:defRPr sz="1875" b="1">
                <a:solidFill>
                  <a:srgbClr val="CA7B49"/>
                </a:solidFill>
                <a:latin typeface="Helvetica Neue"/>
                <a:ea typeface="Helvetica Neue"/>
                <a:cs typeface="Helvetica Neue"/>
              </a:defRPr>
            </a:pPr>
            <a:r>
              <a:rPr sz="1875" b="1">
                <a:solidFill>
                  <a:srgbClr val="CA7B49"/>
                </a:solidFill>
                <a:latin typeface="Helvetica Neue"/>
                <a:ea typeface="Helvetica Neue"/>
                <a:cs typeface="Helvetica Neue"/>
              </a:rPr>
              <a:t>Пустое место требует зоны</a:t>
            </a:r>
          </a:p>
        </p:txBody>
      </p:sp>
    </p:spTree>
    <p:extLst>
      <p:ext uri="{BB962C8B-B14F-4D97-AF65-F5344CB8AC3E}">
        <p14:creationId xmlns:p14="http://schemas.microsoft.com/office/powerpoint/2010/main" val="319277787"/>
      </p:ext>
    </p:extLst>
  </p:cSld>
</p:sld>
</file>

<file path=ppt/slides/slide7.xml><?xml version="1.0" encoding="utf-8"?>
<p:sld xmlns:p="http://schemas.openxmlformats.org/presentationml/2006/main">
  <p:cSld>
    <p:bg>
      <p:bgPr>
        <a:solidFill xmlns:a="http://schemas.openxmlformats.org/drawingml/2006/main">
          <a:srgbClr val="F4F6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5591487-9EB2-46FC-8A8E-2CB5511BA74B}"/>
              </a:ext>
            </a:extLst>
          </p:cNvPr>
          <p:cNvSpPr>
            <a:spLocks xmlns:a="http://schemas.openxmlformats.org/drawingml/2006/main" noGrp="1"/>
          </p:cNvSpPr>
          <p:nvPr/>
        </p:nvSpPr>
        <p:spPr>
          <a:xfrm xmlns:a="http://schemas.openxmlformats.org/drawingml/2006/main">
            <a:off x="609600" y="5143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382B"/>
                </a:solidFill>
                <a:latin typeface="Helvetica Neue"/>
                <a:ea typeface="Helvetica Neue"/>
                <a:cs typeface="Helvetica Neue"/>
              </a:defRPr>
            </a:defPPr>
          </a:lstStyle>
          <a:p xmlns:a="http://schemas.openxmlformats.org/drawingml/2006/main">
            <a:pPr>
              <a:defRPr sz="3225" b="1">
                <a:solidFill>
                  <a:srgbClr val="16382B"/>
                </a:solidFill>
                <a:latin typeface="Helvetica Neue"/>
                <a:ea typeface="Helvetica Neue"/>
                <a:cs typeface="Helvetica Neue"/>
              </a:defRPr>
            </a:pPr>
            <a:r>
              <a:rPr sz="3225" b="1">
                <a:solidFill>
                  <a:srgbClr val="16382B"/>
                </a:solidFill>
                <a:latin typeface="Helvetica Neue"/>
                <a:ea typeface="Helvetica Neue"/>
                <a:cs typeface="Helvetica Neue"/>
              </a:rPr>
              <a:t>$168 / месяц — сценарий, который надо проверить</a:t>
            </a:r>
          </a:p>
        </p:txBody>
      </p:sp>
      <p:sp>
        <p:nvSpPr>
          <p:cNvPr id="2" name="">
            <a:extLst xmlns:a="http://schemas.openxmlformats.org/drawingml/2006/main">
              <a:ext uri="{FF2B5EF4-FFF2-40B4-BE49-F238E27FC236}">
                <a16:creationId xmlns:a16="http://schemas.microsoft.com/office/drawing/2014/main" id="{2FB4FFD2-E4BD-4EEA-B7CA-6FA724F6388B}"/>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DDE6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913B17A-945D-471F-BF8C-457A42FE3AC7}"/>
              </a:ext>
            </a:extLst>
          </p:cNvPr>
          <p:cNvSpPr>
            <a:spLocks xmlns:a="http://schemas.openxmlformats.org/drawingml/2006/main" noGrp="1"/>
          </p:cNvSpPr>
          <p:nvPr/>
        </p:nvSpPr>
        <p:spPr>
          <a:xfrm xmlns:a="http://schemas.openxmlformats.org/drawingml/2006/main">
            <a:off x="609600" y="6429375"/>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1">
                <a:solidFill>
                  <a:srgbClr val="6F8076"/>
                </a:solidFill>
                <a:latin typeface="Helvetica Neue"/>
                <a:ea typeface="Helvetica Neue"/>
                <a:cs typeface="Helvetica Neue"/>
              </a:defRPr>
            </a:defPPr>
          </a:lstStyle>
          <a:p xmlns:a="http://schemas.openxmlformats.org/drawingml/2006/main">
            <a:pPr>
              <a:defRPr sz="900" b="1">
                <a:solidFill>
                  <a:srgbClr val="6F8076"/>
                </a:solidFill>
                <a:latin typeface="Helvetica Neue"/>
                <a:ea typeface="Helvetica Neue"/>
                <a:cs typeface="Helvetica Neue"/>
              </a:defRPr>
            </a:pPr>
            <a:r>
              <a:rPr sz="900" b="1">
                <a:solidFill>
                  <a:srgbClr val="6F8076"/>
                </a:solidFill>
                <a:latin typeface="Helvetica Neue"/>
                <a:ea typeface="Helvetica Neue"/>
                <a:cs typeface="Helvetica Neue"/>
              </a:rPr>
              <a:t>BAYWATCH</a:t>
            </a:r>
          </a:p>
        </p:txBody>
      </p:sp>
      <p:sp>
        <p:nvSpPr>
          <p:cNvPr id="4" name="">
            <a:extLst xmlns:a="http://schemas.openxmlformats.org/drawingml/2006/main">
              <a:ext uri="{FF2B5EF4-FFF2-40B4-BE49-F238E27FC236}">
                <a16:creationId xmlns:a16="http://schemas.microsoft.com/office/drawing/2014/main" id="{A5CB6841-8F68-4362-A75A-9154FF37A93F}"/>
              </a:ext>
            </a:extLst>
          </p:cNvPr>
          <p:cNvSpPr>
            <a:spLocks xmlns:a="http://schemas.openxmlformats.org/drawingml/2006/main" noGrp="1"/>
          </p:cNvSpPr>
          <p:nvPr/>
        </p:nvSpPr>
        <p:spPr>
          <a:xfrm xmlns:a="http://schemas.openxmlformats.org/drawingml/2006/main">
            <a:off x="11029950" y="642937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F8076"/>
                </a:solidFill>
                <a:latin typeface="Helvetica Neue"/>
                <a:ea typeface="Helvetica Neue"/>
                <a:cs typeface="Helvetica Neue"/>
              </a:defRPr>
            </a:defPPr>
          </a:lstStyle>
          <a:p xmlns:a="http://schemas.openxmlformats.org/drawingml/2006/main">
            <a:pPr>
              <a:defRPr sz="900" b="0">
                <a:solidFill>
                  <a:srgbClr val="6F8076"/>
                </a:solidFill>
                <a:latin typeface="Helvetica Neue"/>
                <a:ea typeface="Helvetica Neue"/>
                <a:cs typeface="Helvetica Neue"/>
              </a:defRPr>
            </a:pPr>
            <a:r>
              <a:rPr sz="900" b="0">
                <a:solidFill>
                  <a:srgbClr val="6F8076"/>
                </a:solidFill>
                <a:latin typeface="Helvetica Neue"/>
                <a:ea typeface="Helvetica Neue"/>
                <a:cs typeface="Helvetica Neue"/>
              </a:rPr>
              <a:t>07</a:t>
            </a:r>
          </a:p>
        </p:txBody>
      </p:sp>
      <p:graphicFrame>
        <p:nvGraphicFramePr>
          <p:cNvPr id="5" name="">
            <a:extLst xmlns:a="http://schemas.openxmlformats.org/drawingml/2006/main">
              <a:ext uri="{FF2B5EF4-FFF2-40B4-BE49-F238E27FC236}">
                <a16:creationId xmlns:a16="http://schemas.microsoft.com/office/drawing/2014/main" id="{4B4AF870-BFBF-472A-99D5-7011D403F172}"/>
              </a:ext>
            </a:extLst>
          </p:cNvPr>
          <p:cNvGraphicFramePr/>
          <p:nvPr/>
        </p:nvGraphicFramePr>
        <p:xfrm>
          <a:off xmlns:a="http://schemas.openxmlformats.org/drawingml/2006/main" x="609600" y="1771650"/>
          <a:ext xmlns:a="http://schemas.openxmlformats.org/drawingml/2006/main" cx="5524500" cy="3152775"/>
        </p:xfrm>
        <a:graphic xmlns:a="http://schemas.openxmlformats.org/drawingml/2006/main">
          <a:graphicData uri="http://schemas.openxmlformats.org/drawingml/2006/table">
            <a:tbl>
              <a:tblPr/>
              <a:tblGrid>
                <a:gridCol w="3590925"/>
                <a:gridCol w="1933575"/>
              </a:tblGrid>
              <a:tr h="630555">
                <a:tc>
                  <a:txBody>
                    <a:bodyPr/>
                    <a:lstStyle/>
                    <a:p>
                      <a:r>
                        <a:rPr sz="1425" b="1">
                          <a:solidFill>
                            <a:srgbClr val="FFFFFF"/>
                          </a:solidFill>
                          <a:latin typeface="Helvetica Neue"/>
                          <a:ea typeface="Helvetica Neue"/>
                          <a:cs typeface="Helvetica Neue"/>
                        </a:rPr>
                        <a:t>Допущение</a:t>
                      </a:r>
                    </a:p>
                  </a:txBody>
                  <a:tcPr marL="91440" marR="91440" marT="45720" marB="45720">
                    <a:solidFill>
                      <a:srgbClr val="16664B"/>
                    </a:solidFill>
                  </a:tcPr>
                </a:tc>
                <a:tc>
                  <a:txBody>
                    <a:bodyPr/>
                    <a:lstStyle/>
                    <a:p>
                      <a:r>
                        <a:rPr sz="1425" b="1">
                          <a:solidFill>
                            <a:srgbClr val="FFFFFF"/>
                          </a:solidFill>
                          <a:latin typeface="Helvetica Neue"/>
                          <a:ea typeface="Helvetica Neue"/>
                          <a:cs typeface="Helvetica Neue"/>
                        </a:rPr>
                        <a:t>Значение</a:t>
                      </a:r>
                    </a:p>
                  </a:txBody>
                  <a:tcPr marL="91440" marR="91440" marT="45720" marB="45720">
                    <a:solidFill>
                      <a:srgbClr val="16664B"/>
                    </a:solidFill>
                  </a:tcPr>
                </a:tc>
              </a:tr>
              <a:tr h="630555">
                <a:tc>
                  <a:txBody>
                    <a:bodyPr/>
                    <a:lstStyle/>
                    <a:p>
                      <a:r>
                        <a:rPr sz="1650" b="0">
                          <a:solidFill>
                            <a:srgbClr val="16382B"/>
                          </a:solidFill>
                          <a:latin typeface="Helvetica Neue"/>
                          <a:ea typeface="Helvetica Neue"/>
                          <a:cs typeface="Helvetica Neue"/>
                        </a:rPr>
                        <a:t>Проверок / день</a:t>
                      </a:r>
                    </a:p>
                  </a:txBody>
                  <a:tcPr marL="91440" marR="91440" marT="45720" marB="45720">
                    <a:solidFill>
                      <a:srgbClr val="FFFFFF"/>
                    </a:solidFill>
                  </a:tcPr>
                </a:tc>
                <a:tc>
                  <a:txBody>
                    <a:bodyPr/>
                    <a:lstStyle/>
                    <a:p>
                      <a:r>
                        <a:rPr sz="1650" b="0">
                          <a:solidFill>
                            <a:srgbClr val="16382B"/>
                          </a:solidFill>
                          <a:latin typeface="Helvetica Neue"/>
                          <a:ea typeface="Helvetica Neue"/>
                          <a:cs typeface="Helvetica Neue"/>
                        </a:rPr>
                        <a:t>80</a:t>
                      </a:r>
                    </a:p>
                  </a:txBody>
                  <a:tcPr marL="91440" marR="91440" marT="45720" marB="45720">
                    <a:solidFill>
                      <a:srgbClr val="FFFFFF"/>
                    </a:solidFill>
                  </a:tcPr>
                </a:tc>
              </a:tr>
              <a:tr h="630555">
                <a:tc>
                  <a:txBody>
                    <a:bodyPr/>
                    <a:lstStyle/>
                    <a:p>
                      <a:r>
                        <a:rPr sz="1650" b="0">
                          <a:solidFill>
                            <a:srgbClr val="16382B"/>
                          </a:solidFill>
                          <a:latin typeface="Helvetica Neue"/>
                          <a:ea typeface="Helvetica Neue"/>
                          <a:cs typeface="Helvetica Neue"/>
                        </a:rPr>
                        <a:t>Экономия / проверку</a:t>
                      </a:r>
                    </a:p>
                  </a:txBody>
                  <a:tcPr marL="91440" marR="91440" marT="45720" marB="45720">
                    <a:solidFill>
                      <a:srgbClr val="EBF0E5"/>
                    </a:solidFill>
                  </a:tcPr>
                </a:tc>
                <a:tc>
                  <a:txBody>
                    <a:bodyPr/>
                    <a:lstStyle/>
                    <a:p>
                      <a:r>
                        <a:rPr sz="1650" b="0">
                          <a:solidFill>
                            <a:srgbClr val="16382B"/>
                          </a:solidFill>
                          <a:latin typeface="Helvetica Neue"/>
                          <a:ea typeface="Helvetica Neue"/>
                          <a:cs typeface="Helvetica Neue"/>
                        </a:rPr>
                        <a:t>1,5 минуты</a:t>
                      </a:r>
                    </a:p>
                  </a:txBody>
                  <a:tcPr marL="91440" marR="91440" marT="45720" marB="45720">
                    <a:solidFill>
                      <a:srgbClr val="EBF0E5"/>
                    </a:solidFill>
                  </a:tcPr>
                </a:tc>
              </a:tr>
              <a:tr h="630555">
                <a:tc>
                  <a:txBody>
                    <a:bodyPr/>
                    <a:lstStyle/>
                    <a:p>
                      <a:r>
                        <a:rPr sz="1650" b="0">
                          <a:solidFill>
                            <a:srgbClr val="16382B"/>
                          </a:solidFill>
                          <a:latin typeface="Helvetica Neue"/>
                          <a:ea typeface="Helvetica Neue"/>
                          <a:cs typeface="Helvetica Neue"/>
                        </a:rPr>
                        <a:t>Час сотрудника</a:t>
                      </a:r>
                    </a:p>
                  </a:txBody>
                  <a:tcPr marL="91440" marR="91440" marT="45720" marB="45720">
                    <a:solidFill>
                      <a:srgbClr val="FFFFFF"/>
                    </a:solidFill>
                  </a:tcPr>
                </a:tc>
                <a:tc>
                  <a:txBody>
                    <a:bodyPr/>
                    <a:lstStyle/>
                    <a:p>
                      <a:r>
                        <a:rPr sz="1650" b="0">
                          <a:solidFill>
                            <a:srgbClr val="16382B"/>
                          </a:solidFill>
                          <a:latin typeface="Helvetica Neue"/>
                          <a:ea typeface="Helvetica Neue"/>
                          <a:cs typeface="Helvetica Neue"/>
                        </a:rPr>
                        <a:t>$4</a:t>
                      </a:r>
                    </a:p>
                  </a:txBody>
                  <a:tcPr marL="91440" marR="91440" marT="45720" marB="45720">
                    <a:solidFill>
                      <a:srgbClr val="FFFFFF"/>
                    </a:solidFill>
                  </a:tcPr>
                </a:tc>
              </a:tr>
              <a:tr h="630555">
                <a:tc>
                  <a:txBody>
                    <a:bodyPr/>
                    <a:lstStyle/>
                    <a:p>
                      <a:r>
                        <a:rPr sz="1650" b="0">
                          <a:solidFill>
                            <a:srgbClr val="16382B"/>
                          </a:solidFill>
                          <a:latin typeface="Helvetica Neue"/>
                          <a:ea typeface="Helvetica Neue"/>
                          <a:cs typeface="Helvetica Neue"/>
                        </a:rPr>
                        <a:t>Рабочих дней / месяц</a:t>
                      </a:r>
                    </a:p>
                  </a:txBody>
                  <a:tcPr marL="91440" marR="91440" marT="45720" marB="45720">
                    <a:solidFill>
                      <a:srgbClr val="EBF0E5"/>
                    </a:solidFill>
                  </a:tcPr>
                </a:tc>
                <a:tc>
                  <a:txBody>
                    <a:bodyPr/>
                    <a:lstStyle/>
                    <a:p>
                      <a:r>
                        <a:rPr sz="1650" b="0">
                          <a:solidFill>
                            <a:srgbClr val="16382B"/>
                          </a:solidFill>
                          <a:latin typeface="Helvetica Neue"/>
                          <a:ea typeface="Helvetica Neue"/>
                          <a:cs typeface="Helvetica Neue"/>
                        </a:rPr>
                        <a:t>26</a:t>
                      </a:r>
                    </a:p>
                  </a:txBody>
                  <a:tcPr marL="91440" marR="91440" marT="45720" marB="45720">
                    <a:solidFill>
                      <a:srgbClr val="EBF0E5"/>
                    </a:solidFill>
                  </a:tcPr>
                </a:tc>
              </a:tr>
            </a:tbl>
          </a:graphicData>
        </a:graphic>
      </p:graphicFrame>
      <p:sp>
        <p:nvSpPr>
          <p:cNvPr id="6" name="">
            <a:extLst xmlns:a="http://schemas.openxmlformats.org/drawingml/2006/main">
              <a:ext uri="{FF2B5EF4-FFF2-40B4-BE49-F238E27FC236}">
                <a16:creationId xmlns:a16="http://schemas.microsoft.com/office/drawing/2014/main" id="{E2D1EEE7-BA62-430C-86CA-A207CEB13F5E}"/>
              </a:ext>
            </a:extLst>
          </p:cNvPr>
          <p:cNvSpPr>
            <a:spLocks xmlns:a="http://schemas.openxmlformats.org/drawingml/2006/main" noGrp="1"/>
          </p:cNvSpPr>
          <p:nvPr/>
        </p:nvSpPr>
        <p:spPr>
          <a:xfrm xmlns:a="http://schemas.openxmlformats.org/drawingml/2006/main">
            <a:off x="6858000" y="178117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425" b="1">
                <a:solidFill>
                  <a:srgbClr val="16664B"/>
                </a:solidFill>
                <a:latin typeface="Helvetica Neue"/>
                <a:ea typeface="Helvetica Neue"/>
                <a:cs typeface="Helvetica Neue"/>
              </a:defRPr>
            </a:defPPr>
          </a:lstStyle>
          <a:p xmlns:a="http://schemas.openxmlformats.org/drawingml/2006/main">
            <a:pPr>
              <a:defRPr sz="4425" b="1">
                <a:solidFill>
                  <a:srgbClr val="16664B"/>
                </a:solidFill>
                <a:latin typeface="Helvetica Neue"/>
                <a:ea typeface="Helvetica Neue"/>
                <a:cs typeface="Helvetica Neue"/>
              </a:defRPr>
            </a:pPr>
            <a:r>
              <a:rPr sz="4425" b="1">
                <a:solidFill>
                  <a:srgbClr val="16664B"/>
                </a:solidFill>
                <a:latin typeface="Helvetica Neue"/>
                <a:ea typeface="Helvetica Neue"/>
                <a:cs typeface="Helvetica Neue"/>
              </a:rPr>
              <a:t>$208</a:t>
            </a:r>
          </a:p>
        </p:txBody>
      </p:sp>
      <p:sp>
        <p:nvSpPr>
          <p:cNvPr id="7" name="">
            <a:extLst xmlns:a="http://schemas.openxmlformats.org/drawingml/2006/main">
              <a:ext uri="{FF2B5EF4-FFF2-40B4-BE49-F238E27FC236}">
                <a16:creationId xmlns:a16="http://schemas.microsoft.com/office/drawing/2014/main" id="{7E3AFAA7-EB56-4FC9-B398-C91CE34E7B24}"/>
              </a:ext>
            </a:extLst>
          </p:cNvPr>
          <p:cNvSpPr>
            <a:spLocks xmlns:a="http://schemas.openxmlformats.org/drawingml/2006/main" noGrp="1"/>
          </p:cNvSpPr>
          <p:nvPr/>
        </p:nvSpPr>
        <p:spPr>
          <a:xfrm xmlns:a="http://schemas.openxmlformats.org/drawingml/2006/main">
            <a:off x="6858000" y="2609850"/>
            <a:ext cx="4362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F8076"/>
                </a:solidFill>
                <a:latin typeface="Helvetica Neue"/>
                <a:ea typeface="Helvetica Neue"/>
                <a:cs typeface="Helvetica Neue"/>
              </a:defRPr>
            </a:defPPr>
          </a:lstStyle>
          <a:p xmlns:a="http://schemas.openxmlformats.org/drawingml/2006/main">
            <a:pPr>
              <a:defRPr sz="1800" b="0">
                <a:solidFill>
                  <a:srgbClr val="6F8076"/>
                </a:solidFill>
                <a:latin typeface="Helvetica Neue"/>
                <a:ea typeface="Helvetica Neue"/>
                <a:cs typeface="Helvetica Neue"/>
              </a:defRPr>
            </a:pPr>
            <a:r>
              <a:rPr sz="1800" b="0">
                <a:solidFill>
                  <a:srgbClr val="6F8076"/>
                </a:solidFill>
                <a:latin typeface="Helvetica Neue"/>
                <a:ea typeface="Helvetica Neue"/>
                <a:cs typeface="Helvetica Neue"/>
              </a:rPr>
              <a:t>эквивалент времени / месяц</a:t>
            </a:r>
          </a:p>
        </p:txBody>
      </p:sp>
      <p:sp>
        <p:nvSpPr>
          <p:cNvPr id="8" name="">
            <a:extLst xmlns:a="http://schemas.openxmlformats.org/drawingml/2006/main">
              <a:ext uri="{FF2B5EF4-FFF2-40B4-BE49-F238E27FC236}">
                <a16:creationId xmlns:a16="http://schemas.microsoft.com/office/drawing/2014/main" id="{9ADC45DF-251C-4070-A39B-1EA792488ACB}"/>
              </a:ext>
            </a:extLst>
          </p:cNvPr>
          <p:cNvSpPr>
            <a:spLocks xmlns:a="http://schemas.openxmlformats.org/drawingml/2006/main" noGrp="1"/>
          </p:cNvSpPr>
          <p:nvPr/>
        </p:nvSpPr>
        <p:spPr>
          <a:xfrm xmlns:a="http://schemas.openxmlformats.org/drawingml/2006/main">
            <a:off x="6858000" y="3295650"/>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6382B"/>
                </a:solidFill>
                <a:latin typeface="Helvetica Neue"/>
                <a:ea typeface="Helvetica Neue"/>
                <a:cs typeface="Helvetica Neue"/>
              </a:defRPr>
            </a:defPPr>
          </a:lstStyle>
          <a:p xmlns:a="http://schemas.openxmlformats.org/drawingml/2006/main">
            <a:pPr>
              <a:defRPr sz="3600" b="1">
                <a:solidFill>
                  <a:srgbClr val="16382B"/>
                </a:solidFill>
                <a:latin typeface="Helvetica Neue"/>
                <a:ea typeface="Helvetica Neue"/>
                <a:cs typeface="Helvetica Neue"/>
              </a:defRPr>
            </a:pPr>
            <a:r>
              <a:rPr sz="3600" b="1">
                <a:solidFill>
                  <a:srgbClr val="16382B"/>
                </a:solidFill>
                <a:latin typeface="Helvetica Neue"/>
                <a:ea typeface="Helvetica Neue"/>
                <a:cs typeface="Helvetica Neue"/>
              </a:rPr>
              <a:t>− $40</a:t>
            </a:r>
          </a:p>
        </p:txBody>
      </p:sp>
      <p:sp>
        <p:nvSpPr>
          <p:cNvPr id="9" name="">
            <a:extLst xmlns:a="http://schemas.openxmlformats.org/drawingml/2006/main">
              <a:ext uri="{FF2B5EF4-FFF2-40B4-BE49-F238E27FC236}">
                <a16:creationId xmlns:a16="http://schemas.microsoft.com/office/drawing/2014/main" id="{E11C7D45-7BE4-4620-92D7-0476935FA605}"/>
              </a:ext>
            </a:extLst>
          </p:cNvPr>
          <p:cNvSpPr>
            <a:spLocks xmlns:a="http://schemas.openxmlformats.org/drawingml/2006/main" noGrp="1"/>
          </p:cNvSpPr>
          <p:nvPr/>
        </p:nvSpPr>
        <p:spPr>
          <a:xfrm xmlns:a="http://schemas.openxmlformats.org/drawingml/2006/main">
            <a:off x="6858000" y="4038600"/>
            <a:ext cx="44481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F8076"/>
                </a:solidFill>
                <a:latin typeface="Helvetica Neue"/>
                <a:ea typeface="Helvetica Neue"/>
                <a:cs typeface="Helvetica Neue"/>
              </a:defRPr>
            </a:defPPr>
          </a:lstStyle>
          <a:p xmlns:a="http://schemas.openxmlformats.org/drawingml/2006/main">
            <a:pPr>
              <a:defRPr sz="1800" b="0">
                <a:solidFill>
                  <a:srgbClr val="6F8076"/>
                </a:solidFill>
                <a:latin typeface="Helvetica Neue"/>
                <a:ea typeface="Helvetica Neue"/>
                <a:cs typeface="Helvetica Neue"/>
              </a:defRPr>
            </a:pPr>
            <a:r>
              <a:rPr sz="1800" b="0">
                <a:solidFill>
                  <a:srgbClr val="6F8076"/>
                </a:solidFill>
                <a:latin typeface="Helvetica Neue"/>
                <a:ea typeface="Helvetica Neue"/>
                <a:cs typeface="Helvetica Neue"/>
              </a:rPr>
              <a:t>резерв на эксплуатацию / месяц</a:t>
            </a:r>
          </a:p>
        </p:txBody>
      </p:sp>
      <p:sp>
        <p:nvSpPr>
          <p:cNvPr id="10" name="">
            <a:extLst xmlns:a="http://schemas.openxmlformats.org/drawingml/2006/main">
              <a:ext uri="{FF2B5EF4-FFF2-40B4-BE49-F238E27FC236}">
                <a16:creationId xmlns:a16="http://schemas.microsoft.com/office/drawing/2014/main" id="{C5D7F993-E0EC-4894-8DC6-2A5D7749E603}"/>
              </a:ext>
            </a:extLst>
          </p:cNvPr>
          <p:cNvSpPr>
            <a:spLocks xmlns:a="http://schemas.openxmlformats.org/drawingml/2006/main" noGrp="1"/>
          </p:cNvSpPr>
          <p:nvPr/>
        </p:nvSpPr>
        <p:spPr>
          <a:xfrm xmlns:a="http://schemas.openxmlformats.org/drawingml/2006/main">
            <a:off x="609600" y="5391150"/>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6382B"/>
                </a:solidFill>
                <a:latin typeface="Helvetica Neue"/>
                <a:ea typeface="Helvetica Neue"/>
                <a:cs typeface="Helvetica Neue"/>
              </a:defRPr>
            </a:defPPr>
          </a:lstStyle>
          <a:p xmlns:a="http://schemas.openxmlformats.org/drawingml/2006/main">
            <a:pPr>
              <a:defRPr sz="2700" b="1">
                <a:solidFill>
                  <a:srgbClr val="16382B"/>
                </a:solidFill>
                <a:latin typeface="Helvetica Neue"/>
                <a:ea typeface="Helvetica Neue"/>
                <a:cs typeface="Helvetica Neue"/>
              </a:defRPr>
            </a:pPr>
            <a:r>
              <a:rPr sz="2700" b="1">
                <a:solidFill>
                  <a:srgbClr val="16382B"/>
                </a:solidFill>
                <a:latin typeface="Helvetica Neue"/>
                <a:ea typeface="Helvetica Neue"/>
                <a:cs typeface="Helvetica Neue"/>
              </a:rPr>
              <a:t>$300 / $168 = 1,79 мес.</a:t>
            </a:r>
          </a:p>
        </p:txBody>
      </p:sp>
      <p:sp>
        <p:nvSpPr>
          <p:cNvPr id="11" name="">
            <a:extLst xmlns:a="http://schemas.openxmlformats.org/drawingml/2006/main">
              <a:ext uri="{FF2B5EF4-FFF2-40B4-BE49-F238E27FC236}">
                <a16:creationId xmlns:a16="http://schemas.microsoft.com/office/drawing/2014/main" id="{BBCF7A03-1D64-4A4F-87B6-420D56212804}"/>
              </a:ext>
            </a:extLst>
          </p:cNvPr>
          <p:cNvSpPr>
            <a:spLocks xmlns:a="http://schemas.openxmlformats.org/drawingml/2006/main" noGrp="1"/>
          </p:cNvSpPr>
          <p:nvPr/>
        </p:nvSpPr>
        <p:spPr>
          <a:xfrm xmlns:a="http://schemas.openxmlformats.org/drawingml/2006/main">
            <a:off x="609600" y="5943600"/>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F8076"/>
                </a:solidFill>
                <a:latin typeface="Helvetica Neue"/>
                <a:ea typeface="Helvetica Neue"/>
                <a:cs typeface="Helvetica Neue"/>
              </a:defRPr>
            </a:defPPr>
          </a:lstStyle>
          <a:p xmlns:a="http://schemas.openxmlformats.org/drawingml/2006/main">
            <a:pPr>
              <a:defRPr sz="1200" b="0">
                <a:solidFill>
                  <a:srgbClr val="6F8076"/>
                </a:solidFill>
                <a:latin typeface="Helvetica Neue"/>
                <a:ea typeface="Helvetica Neue"/>
                <a:cs typeface="Helvetica Neue"/>
              </a:defRPr>
            </a:pPr>
            <a:r>
              <a:rPr sz="1200" b="0">
                <a:solidFill>
                  <a:srgbClr val="6F8076"/>
                </a:solidFill>
                <a:latin typeface="Helvetica Neue"/>
                <a:ea typeface="Helvetica Neue"/>
                <a:cs typeface="Helvetica Neue"/>
              </a:rPr>
              <a:t>Сценарий: существующие камера и компьютер; оборудование и интеграции сверх этого</a:t>
            </a:r>
          </a:p>
        </p:txBody>
      </p:sp>
    </p:spTree>
    <p:extLst>
      <p:ext uri="{BB962C8B-B14F-4D97-AF65-F5344CB8AC3E}">
        <p14:creationId xmlns:p14="http://schemas.microsoft.com/office/powerpoint/2010/main" val="1453678702"/>
      </p:ext>
    </p:extLst>
  </p:cSld>
</p:sld>
</file>

<file path=ppt/slides/slide8.xml><?xml version="1.0" encoding="utf-8"?>
<p:sld xmlns:p="http://schemas.openxmlformats.org/presentationml/2006/main">
  <p:cSld>
    <p:bg>
      <p:bgPr>
        <a:solidFill xmlns:a="http://schemas.openxmlformats.org/drawingml/2006/main">
          <a:srgbClr val="F4F6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D183FF3-6DFD-45CD-8A4E-741B50AB494C}"/>
              </a:ext>
            </a:extLst>
          </p:cNvPr>
          <p:cNvSpPr>
            <a:spLocks xmlns:a="http://schemas.openxmlformats.org/drawingml/2006/main" noGrp="1"/>
          </p:cNvSpPr>
          <p:nvPr/>
        </p:nvSpPr>
        <p:spPr>
          <a:xfrm xmlns:a="http://schemas.openxmlformats.org/drawingml/2006/main">
            <a:off x="609600" y="5143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6382B"/>
                </a:solidFill>
                <a:latin typeface="Helvetica Neue"/>
                <a:ea typeface="Helvetica Neue"/>
                <a:cs typeface="Helvetica Neue"/>
              </a:defRPr>
            </a:defPPr>
          </a:lstStyle>
          <a:p xmlns:a="http://schemas.openxmlformats.org/drawingml/2006/main">
            <a:pPr>
              <a:defRPr sz="3225" b="1">
                <a:solidFill>
                  <a:srgbClr val="16382B"/>
                </a:solidFill>
                <a:latin typeface="Helvetica Neue"/>
                <a:ea typeface="Helvetica Neue"/>
                <a:cs typeface="Helvetica Neue"/>
              </a:defRPr>
            </a:pPr>
            <a:r>
              <a:rPr sz="3225" b="1">
                <a:solidFill>
                  <a:srgbClr val="16382B"/>
                </a:solidFill>
                <a:latin typeface="Helvetica Neue"/>
                <a:ea typeface="Helvetica Neue"/>
                <a:cs typeface="Helvetica Neue"/>
              </a:rPr>
              <a:t>Код открыт. Защиту от копирования ещё надо создать</a:t>
            </a:r>
          </a:p>
        </p:txBody>
      </p:sp>
      <p:sp>
        <p:nvSpPr>
          <p:cNvPr id="2" name="">
            <a:extLst xmlns:a="http://schemas.openxmlformats.org/drawingml/2006/main">
              <a:ext uri="{FF2B5EF4-FFF2-40B4-BE49-F238E27FC236}">
                <a16:creationId xmlns:a16="http://schemas.microsoft.com/office/drawing/2014/main" id="{4709F67C-6A21-4C4C-A23D-0BAA8F29297C}"/>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DDE6D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8B0CD26-4E4A-4841-A53B-2EFD19BC0F30}"/>
              </a:ext>
            </a:extLst>
          </p:cNvPr>
          <p:cNvSpPr>
            <a:spLocks xmlns:a="http://schemas.openxmlformats.org/drawingml/2006/main" noGrp="1"/>
          </p:cNvSpPr>
          <p:nvPr/>
        </p:nvSpPr>
        <p:spPr>
          <a:xfrm xmlns:a="http://schemas.openxmlformats.org/drawingml/2006/main">
            <a:off x="609600" y="6429375"/>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1">
                <a:solidFill>
                  <a:srgbClr val="6F8076"/>
                </a:solidFill>
                <a:latin typeface="Helvetica Neue"/>
                <a:ea typeface="Helvetica Neue"/>
                <a:cs typeface="Helvetica Neue"/>
              </a:defRPr>
            </a:defPPr>
          </a:lstStyle>
          <a:p xmlns:a="http://schemas.openxmlformats.org/drawingml/2006/main">
            <a:pPr>
              <a:defRPr sz="900" b="1">
                <a:solidFill>
                  <a:srgbClr val="6F8076"/>
                </a:solidFill>
                <a:latin typeface="Helvetica Neue"/>
                <a:ea typeface="Helvetica Neue"/>
                <a:cs typeface="Helvetica Neue"/>
              </a:defRPr>
            </a:pPr>
            <a:r>
              <a:rPr sz="900" b="1">
                <a:solidFill>
                  <a:srgbClr val="6F8076"/>
                </a:solidFill>
                <a:latin typeface="Helvetica Neue"/>
                <a:ea typeface="Helvetica Neue"/>
                <a:cs typeface="Helvetica Neue"/>
              </a:rPr>
              <a:t>BAYWATCH</a:t>
            </a:r>
          </a:p>
        </p:txBody>
      </p:sp>
      <p:sp>
        <p:nvSpPr>
          <p:cNvPr id="4" name="">
            <a:extLst xmlns:a="http://schemas.openxmlformats.org/drawingml/2006/main">
              <a:ext uri="{FF2B5EF4-FFF2-40B4-BE49-F238E27FC236}">
                <a16:creationId xmlns:a16="http://schemas.microsoft.com/office/drawing/2014/main" id="{4E72CC43-41CB-4FF7-83E7-DC48C03E4CF4}"/>
              </a:ext>
            </a:extLst>
          </p:cNvPr>
          <p:cNvSpPr>
            <a:spLocks xmlns:a="http://schemas.openxmlformats.org/drawingml/2006/main" noGrp="1"/>
          </p:cNvSpPr>
          <p:nvPr/>
        </p:nvSpPr>
        <p:spPr>
          <a:xfrm xmlns:a="http://schemas.openxmlformats.org/drawingml/2006/main">
            <a:off x="11029950" y="642937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F8076"/>
                </a:solidFill>
                <a:latin typeface="Helvetica Neue"/>
                <a:ea typeface="Helvetica Neue"/>
                <a:cs typeface="Helvetica Neue"/>
              </a:defRPr>
            </a:defPPr>
          </a:lstStyle>
          <a:p xmlns:a="http://schemas.openxmlformats.org/drawingml/2006/main">
            <a:pPr>
              <a:defRPr sz="900" b="0">
                <a:solidFill>
                  <a:srgbClr val="6F8076"/>
                </a:solidFill>
                <a:latin typeface="Helvetica Neue"/>
                <a:ea typeface="Helvetica Neue"/>
                <a:cs typeface="Helvetica Neue"/>
              </a:defRPr>
            </a:pPr>
            <a:r>
              <a:rPr sz="900" b="0">
                <a:solidFill>
                  <a:srgbClr val="6F8076"/>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76A79C6D-4BA5-472F-9DFB-D5580164006B}"/>
              </a:ext>
            </a:extLst>
          </p:cNvPr>
          <p:cNvSpPr>
            <a:spLocks xmlns:a="http://schemas.openxmlformats.org/drawingml/2006/main" noGrp="1"/>
          </p:cNvSpPr>
          <p:nvPr/>
        </p:nvSpPr>
        <p:spPr>
          <a:xfrm xmlns:a="http://schemas.openxmlformats.org/drawingml/2006/main">
            <a:off x="609600" y="19526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6382B"/>
                </a:solidFill>
                <a:latin typeface="Helvetica Neue"/>
                <a:ea typeface="Helvetica Neue"/>
                <a:cs typeface="Helvetica Neue"/>
              </a:defRPr>
            </a:defPPr>
          </a:lstStyle>
          <a:p xmlns:a="http://schemas.openxmlformats.org/drawingml/2006/main">
            <a:pPr>
              <a:defRPr sz="2550" b="1">
                <a:solidFill>
                  <a:srgbClr val="16382B"/>
                </a:solidFill>
                <a:latin typeface="Helvetica Neue"/>
                <a:ea typeface="Helvetica Neue"/>
                <a:cs typeface="Helvetica Neue"/>
              </a:defRPr>
            </a:pPr>
            <a:r>
              <a:rPr sz="2550" b="1">
                <a:solidFill>
                  <a:srgbClr val="16382B"/>
                </a:solidFill>
                <a:latin typeface="Helvetica Neue"/>
                <a:ea typeface="Helvetica Neue"/>
                <a:cs typeface="Helvetica Neue"/>
              </a:rPr>
              <a:t>Сейчас</a:t>
            </a:r>
          </a:p>
        </p:txBody>
      </p:sp>
      <p:sp>
        <p:nvSpPr>
          <p:cNvPr id="6" name="">
            <a:extLst xmlns:a="http://schemas.openxmlformats.org/drawingml/2006/main">
              <a:ext uri="{FF2B5EF4-FFF2-40B4-BE49-F238E27FC236}">
                <a16:creationId xmlns:a16="http://schemas.microsoft.com/office/drawing/2014/main" id="{D5F7A2D0-2D73-4578-841A-2DC2CB7F5992}"/>
              </a:ext>
            </a:extLst>
          </p:cNvPr>
          <p:cNvSpPr>
            <a:spLocks xmlns:a="http://schemas.openxmlformats.org/drawingml/2006/main" noGrp="1"/>
          </p:cNvSpPr>
          <p:nvPr/>
        </p:nvSpPr>
        <p:spPr>
          <a:xfrm xmlns:a="http://schemas.openxmlformats.org/drawingml/2006/main">
            <a:off x="609600" y="2924175"/>
            <a:ext cx="5143500" cy="2276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F8076"/>
                </a:solidFill>
                <a:latin typeface="Helvetica Neue"/>
                <a:ea typeface="Helvetica Neue"/>
                <a:cs typeface="Helvetica Neue"/>
              </a:defRPr>
            </a:defPPr>
          </a:lstStyle>
          <a:p xmlns:a="http://schemas.openxmlformats.org/drawingml/2006/main">
            <a:pPr>
              <a:defRPr sz="2175" b="0">
                <a:solidFill>
                  <a:srgbClr val="6F8076"/>
                </a:solidFill>
                <a:latin typeface="Helvetica Neue"/>
                <a:ea typeface="Helvetica Neue"/>
                <a:cs typeface="Helvetica Neue"/>
              </a:defRPr>
            </a:pPr>
            <a:r>
              <a:rPr sz="2175" b="0">
                <a:solidFill>
                  <a:srgbClr val="6F8076"/>
                </a:solidFill>
                <a:latin typeface="Helvetica Neue"/>
                <a:ea typeface="Helvetica Neue"/>
                <a:cs typeface="Helvetica Neue"/>
              </a:rPr>
              <a:t>Рабочий прототип</a:t>
            </a:r>
          </a:p>
          <a:p xmlns:a="http://schemas.openxmlformats.org/drawingml/2006/main">
            <a:pPr>
              <a:defRPr sz="2175" b="0">
                <a:solidFill>
                  <a:srgbClr val="6F8076"/>
                </a:solidFill>
                <a:latin typeface="Helvetica Neue"/>
                <a:ea typeface="Helvetica Neue"/>
                <a:cs typeface="Helvetica Neue"/>
              </a:defRPr>
            </a:pPr>
            <a:r>
              <a:rPr sz="2175" b="0">
                <a:solidFill>
                  <a:srgbClr val="6F8076"/>
                </a:solidFill>
                <a:latin typeface="Helvetica Neue"/>
                <a:ea typeface="Helvetica Neue"/>
                <a:cs typeface="Helvetica Neue"/>
              </a:rPr>
              <a:t>Обучение и тест воспроизводимы</a:t>
            </a:r>
          </a:p>
          <a:p xmlns:a="http://schemas.openxmlformats.org/drawingml/2006/main">
            <a:pPr>
              <a:defRPr sz="2175" b="0">
                <a:solidFill>
                  <a:srgbClr val="6F8076"/>
                </a:solidFill>
                <a:latin typeface="Helvetica Neue"/>
                <a:ea typeface="Helvetica Neue"/>
                <a:cs typeface="Helvetica Neue"/>
              </a:defRPr>
            </a:pPr>
            <a:r>
              <a:rPr sz="2175" b="0">
                <a:solidFill>
                  <a:srgbClr val="6F8076"/>
                </a:solidFill>
                <a:latin typeface="Helvetica Neue"/>
                <a:ea typeface="Helvetica Neue"/>
                <a:cs typeface="Helvetica Neue"/>
              </a:rPr>
              <a:t>Низкая стоимость вычисления</a:t>
            </a:r>
          </a:p>
          <a:p xmlns:a="http://schemas.openxmlformats.org/drawingml/2006/main">
            <a:pPr>
              <a:defRPr sz="2175" b="0">
                <a:solidFill>
                  <a:srgbClr val="6F8076"/>
                </a:solidFill>
                <a:latin typeface="Helvetica Neue"/>
                <a:ea typeface="Helvetica Neue"/>
                <a:cs typeface="Helvetica Neue"/>
              </a:defRPr>
            </a:pPr>
            <a:r>
              <a:rPr sz="2175" b="0">
                <a:solidFill>
                  <a:srgbClr val="6F8076"/>
                </a:solidFill>
                <a:latin typeface="Helvetica Neue"/>
                <a:ea typeface="Helvetica Neue"/>
                <a:cs typeface="Helvetica Neue"/>
              </a:rPr>
              <a:t>Нет подтверждённого moat</a:t>
            </a:r>
          </a:p>
        </p:txBody>
      </p:sp>
      <p:sp>
        <p:nvSpPr>
          <p:cNvPr id="7" name="">
            <a:extLst xmlns:a="http://schemas.openxmlformats.org/drawingml/2006/main">
              <a:ext uri="{FF2B5EF4-FFF2-40B4-BE49-F238E27FC236}">
                <a16:creationId xmlns:a16="http://schemas.microsoft.com/office/drawing/2014/main" id="{A224D246-8588-42AD-B778-33B880054DB5}"/>
              </a:ext>
            </a:extLst>
          </p:cNvPr>
          <p:cNvSpPr>
            <a:spLocks xmlns:a="http://schemas.openxmlformats.org/drawingml/2006/main" noGrp="1"/>
          </p:cNvSpPr>
          <p:nvPr/>
        </p:nvSpPr>
        <p:spPr>
          <a:xfrm xmlns:a="http://schemas.openxmlformats.org/drawingml/2006/main">
            <a:off x="6219825" y="1876425"/>
            <a:ext cx="19050" cy="3810000"/>
          </a:xfrm>
          <a:prstGeom xmlns:a="http://schemas.openxmlformats.org/drawingml/2006/main" prst="rect">
            <a:avLst/>
          </a:prstGeom>
          <a:solidFill xmlns:a="http://schemas.openxmlformats.org/drawingml/2006/main">
            <a:srgbClr val="DDE6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718549B-32DE-4A38-8083-04B5BCF11AD4}"/>
              </a:ext>
            </a:extLst>
          </p:cNvPr>
          <p:cNvSpPr>
            <a:spLocks xmlns:a="http://schemas.openxmlformats.org/drawingml/2006/main" noGrp="1"/>
          </p:cNvSpPr>
          <p:nvPr/>
        </p:nvSpPr>
        <p:spPr>
          <a:xfrm xmlns:a="http://schemas.openxmlformats.org/drawingml/2006/main">
            <a:off x="6772275" y="1952625"/>
            <a:ext cx="4819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6664B"/>
                </a:solidFill>
                <a:latin typeface="Helvetica Neue"/>
                <a:ea typeface="Helvetica Neue"/>
                <a:cs typeface="Helvetica Neue"/>
              </a:defRPr>
            </a:defPPr>
          </a:lstStyle>
          <a:p xmlns:a="http://schemas.openxmlformats.org/drawingml/2006/main">
            <a:pPr>
              <a:defRPr sz="2550" b="1">
                <a:solidFill>
                  <a:srgbClr val="16664B"/>
                </a:solidFill>
                <a:latin typeface="Helvetica Neue"/>
                <a:ea typeface="Helvetica Neue"/>
                <a:cs typeface="Helvetica Neue"/>
              </a:defRPr>
            </a:pPr>
            <a:r>
              <a:rPr sz="2550" b="1">
                <a:solidFill>
                  <a:srgbClr val="16664B"/>
                </a:solidFill>
                <a:latin typeface="Helvetica Neue"/>
                <a:ea typeface="Helvetica Neue"/>
                <a:cs typeface="Helvetica Neue"/>
              </a:rPr>
              <a:t>После успешного пилота</a:t>
            </a:r>
          </a:p>
        </p:txBody>
      </p:sp>
      <p:sp>
        <p:nvSpPr>
          <p:cNvPr id="9" name="">
            <a:extLst xmlns:a="http://schemas.openxmlformats.org/drawingml/2006/main">
              <a:ext uri="{FF2B5EF4-FFF2-40B4-BE49-F238E27FC236}">
                <a16:creationId xmlns:a16="http://schemas.microsoft.com/office/drawing/2014/main" id="{6712925F-D9E2-4793-AD20-3F4E5A1C5B6B}"/>
              </a:ext>
            </a:extLst>
          </p:cNvPr>
          <p:cNvSpPr>
            <a:spLocks xmlns:a="http://schemas.openxmlformats.org/drawingml/2006/main" noGrp="1"/>
          </p:cNvSpPr>
          <p:nvPr/>
        </p:nvSpPr>
        <p:spPr>
          <a:xfrm xmlns:a="http://schemas.openxmlformats.org/drawingml/2006/main">
            <a:off x="6772275" y="2924175"/>
            <a:ext cx="4857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F8076"/>
                </a:solidFill>
                <a:latin typeface="Helvetica Neue"/>
                <a:ea typeface="Helvetica Neue"/>
                <a:cs typeface="Helvetica Neue"/>
              </a:defRPr>
            </a:defPPr>
          </a:lstStyle>
          <a:p xmlns:a="http://schemas.openxmlformats.org/drawingml/2006/main">
            <a:pPr>
              <a:defRPr sz="2175" b="0">
                <a:solidFill>
                  <a:srgbClr val="6F8076"/>
                </a:solidFill>
                <a:latin typeface="Helvetica Neue"/>
                <a:ea typeface="Helvetica Neue"/>
                <a:cs typeface="Helvetica Neue"/>
              </a:defRPr>
            </a:pPr>
            <a:r>
              <a:rPr sz="2175" b="0">
                <a:solidFill>
                  <a:srgbClr val="6F8076"/>
                </a:solidFill>
                <a:latin typeface="Helvetica Neue"/>
                <a:ea typeface="Helvetica Neue"/>
                <a:cs typeface="Helvetica Neue"/>
              </a:rPr>
              <a:t>Разрешённые локальные данные</a:t>
            </a:r>
          </a:p>
          <a:p xmlns:a="http://schemas.openxmlformats.org/drawingml/2006/main">
            <a:pPr>
              <a:defRPr sz="2175" b="0">
                <a:solidFill>
                  <a:srgbClr val="6F8076"/>
                </a:solidFill>
                <a:latin typeface="Helvetica Neue"/>
                <a:ea typeface="Helvetica Neue"/>
                <a:cs typeface="Helvetica Neue"/>
              </a:defRPr>
            </a:pPr>
            <a:r>
              <a:rPr sz="2175" b="0">
                <a:solidFill>
                  <a:srgbClr val="6F8076"/>
                </a:solidFill>
                <a:latin typeface="Helvetica Neue"/>
                <a:ea typeface="Helvetica Neue"/>
                <a:cs typeface="Helvetica Neue"/>
              </a:rPr>
              <a:t>Разбор ошибок сотрудниками</a:t>
            </a:r>
          </a:p>
          <a:p xmlns:a="http://schemas.openxmlformats.org/drawingml/2006/main">
            <a:pPr>
              <a:defRPr sz="2175" b="0">
                <a:solidFill>
                  <a:srgbClr val="6F8076"/>
                </a:solidFill>
                <a:latin typeface="Helvetica Neue"/>
                <a:ea typeface="Helvetica Neue"/>
                <a:cs typeface="Helvetica Neue"/>
              </a:defRPr>
            </a:pPr>
            <a:r>
              <a:rPr sz="2175" b="0">
                <a:solidFill>
                  <a:srgbClr val="6F8076"/>
                </a:solidFill>
                <a:latin typeface="Helvetica Neue"/>
                <a:ea typeface="Helvetica Neue"/>
                <a:cs typeface="Helvetica Neue"/>
              </a:rPr>
              <a:t>Интеграция в рабочий процесс</a:t>
            </a:r>
          </a:p>
          <a:p xmlns:a="http://schemas.openxmlformats.org/drawingml/2006/main">
            <a:pPr>
              <a:defRPr sz="2175" b="0">
                <a:solidFill>
                  <a:srgbClr val="6F8076"/>
                </a:solidFill>
                <a:latin typeface="Helvetica Neue"/>
                <a:ea typeface="Helvetica Neue"/>
                <a:cs typeface="Helvetica Neue"/>
              </a:defRPr>
            </a:pPr>
            <a:r>
              <a:rPr sz="2175" b="0">
                <a:solidFill>
                  <a:srgbClr val="6F8076"/>
                </a:solidFill>
                <a:latin typeface="Helvetica Neue"/>
                <a:ea typeface="Helvetica Neue"/>
                <a:cs typeface="Helvetica Neue"/>
              </a:rPr>
              <a:t>Измеренный эффект на площадке</a:t>
            </a:r>
          </a:p>
        </p:txBody>
      </p:sp>
    </p:spTree>
    <p:extLst>
      <p:ext uri="{BB962C8B-B14F-4D97-AF65-F5344CB8AC3E}">
        <p14:creationId xmlns:p14="http://schemas.microsoft.com/office/powerpoint/2010/main" val="1332520724"/>
      </p:ext>
    </p:extLst>
  </p:cSld>
</p:sld>
</file>

<file path=ppt/slides/slide9.xml><?xml version="1.0" encoding="utf-8"?>
<p:sld xmlns:p="http://schemas.openxmlformats.org/presentationml/2006/main">
  <p:cSld>
    <p:bg>
      <p:bgPr>
        <a:solidFill xmlns:a="http://schemas.openxmlformats.org/drawingml/2006/main">
          <a:srgbClr val="1638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3736DA0-0CD9-4316-9946-F4A0C0BD09EA}"/>
              </a:ext>
            </a:extLst>
          </p:cNvPr>
          <p:cNvSpPr>
            <a:spLocks xmlns:a="http://schemas.openxmlformats.org/drawingml/2006/main" noGrp="1"/>
          </p:cNvSpPr>
          <p:nvPr/>
        </p:nvSpPr>
        <p:spPr>
          <a:xfrm xmlns:a="http://schemas.openxmlformats.org/drawingml/2006/main">
            <a:off x="609600" y="51435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Helvetica Neue"/>
                <a:ea typeface="Helvetica Neue"/>
                <a:cs typeface="Helvetica Neue"/>
              </a:defRPr>
            </a:defPPr>
          </a:lstStyle>
          <a:p xmlns:a="http://schemas.openxmlformats.org/drawingml/2006/main">
            <a:pPr>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Следующий шаг — 14 дней на одной камере</a:t>
            </a:r>
          </a:p>
        </p:txBody>
      </p:sp>
      <p:sp>
        <p:nvSpPr>
          <p:cNvPr id="2" name="">
            <a:extLst xmlns:a="http://schemas.openxmlformats.org/drawingml/2006/main">
              <a:ext uri="{FF2B5EF4-FFF2-40B4-BE49-F238E27FC236}">
                <a16:creationId xmlns:a16="http://schemas.microsoft.com/office/drawing/2014/main" id="{61F4BC27-F4D2-4D22-8E98-FF81BD6CF8AF}"/>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35554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73D055-957D-4CC8-9087-569C050DE9B9}"/>
              </a:ext>
            </a:extLst>
          </p:cNvPr>
          <p:cNvSpPr>
            <a:spLocks xmlns:a="http://schemas.openxmlformats.org/drawingml/2006/main" noGrp="1"/>
          </p:cNvSpPr>
          <p:nvPr/>
        </p:nvSpPr>
        <p:spPr>
          <a:xfrm xmlns:a="http://schemas.openxmlformats.org/drawingml/2006/main">
            <a:off x="609600" y="6429375"/>
            <a:ext cx="219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1">
                <a:solidFill>
                  <a:srgbClr val="B5C8B9"/>
                </a:solidFill>
                <a:latin typeface="Helvetica Neue"/>
                <a:ea typeface="Helvetica Neue"/>
                <a:cs typeface="Helvetica Neue"/>
              </a:defRPr>
            </a:defPPr>
          </a:lstStyle>
          <a:p xmlns:a="http://schemas.openxmlformats.org/drawingml/2006/main">
            <a:pPr>
              <a:defRPr sz="900" b="1">
                <a:solidFill>
                  <a:srgbClr val="B5C8B9"/>
                </a:solidFill>
                <a:latin typeface="Helvetica Neue"/>
                <a:ea typeface="Helvetica Neue"/>
                <a:cs typeface="Helvetica Neue"/>
              </a:defRPr>
            </a:pPr>
            <a:r>
              <a:rPr sz="900" b="1">
                <a:solidFill>
                  <a:srgbClr val="B5C8B9"/>
                </a:solidFill>
                <a:latin typeface="Helvetica Neue"/>
                <a:ea typeface="Helvetica Neue"/>
                <a:cs typeface="Helvetica Neue"/>
              </a:rPr>
              <a:t>BAYWATCH</a:t>
            </a:r>
          </a:p>
        </p:txBody>
      </p:sp>
      <p:sp>
        <p:nvSpPr>
          <p:cNvPr id="4" name="">
            <a:extLst xmlns:a="http://schemas.openxmlformats.org/drawingml/2006/main">
              <a:ext uri="{FF2B5EF4-FFF2-40B4-BE49-F238E27FC236}">
                <a16:creationId xmlns:a16="http://schemas.microsoft.com/office/drawing/2014/main" id="{F8D29440-9345-4ACF-A838-425BE26FDC44}"/>
              </a:ext>
            </a:extLst>
          </p:cNvPr>
          <p:cNvSpPr>
            <a:spLocks xmlns:a="http://schemas.openxmlformats.org/drawingml/2006/main" noGrp="1"/>
          </p:cNvSpPr>
          <p:nvPr/>
        </p:nvSpPr>
        <p:spPr>
          <a:xfrm xmlns:a="http://schemas.openxmlformats.org/drawingml/2006/main">
            <a:off x="11029950" y="642937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5C8B9"/>
                </a:solidFill>
                <a:latin typeface="Helvetica Neue"/>
                <a:ea typeface="Helvetica Neue"/>
                <a:cs typeface="Helvetica Neue"/>
              </a:defRPr>
            </a:defPPr>
          </a:lstStyle>
          <a:p xmlns:a="http://schemas.openxmlformats.org/drawingml/2006/main">
            <a:pPr>
              <a:defRPr sz="900" b="0">
                <a:solidFill>
                  <a:srgbClr val="B5C8B9"/>
                </a:solidFill>
                <a:latin typeface="Helvetica Neue"/>
                <a:ea typeface="Helvetica Neue"/>
                <a:cs typeface="Helvetica Neue"/>
              </a:defRPr>
            </a:pPr>
            <a:r>
              <a:rPr sz="900" b="0">
                <a:solidFill>
                  <a:srgbClr val="B5C8B9"/>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0110A0D0-516C-4B38-8873-859AABA59469}"/>
              </a:ext>
            </a:extLst>
          </p:cNvPr>
          <p:cNvSpPr>
            <a:spLocks xmlns:a="http://schemas.openxmlformats.org/drawingml/2006/main" noGrp="1"/>
          </p:cNvSpPr>
          <p:nvPr/>
        </p:nvSpPr>
        <p:spPr>
          <a:xfrm xmlns:a="http://schemas.openxmlformats.org/drawingml/2006/main">
            <a:off x="609600" y="20383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D4EF86"/>
                </a:solidFill>
                <a:latin typeface="Helvetica Neue"/>
                <a:ea typeface="Helvetica Neue"/>
                <a:cs typeface="Helvetica Neue"/>
              </a:defRPr>
            </a:defPPr>
          </a:lstStyle>
          <a:p xmlns:a="http://schemas.openxmlformats.org/drawingml/2006/main">
            <a:pPr>
              <a:defRPr sz="4200" b="1">
                <a:solidFill>
                  <a:srgbClr val="D4EF86"/>
                </a:solidFill>
                <a:latin typeface="Helvetica Neue"/>
                <a:ea typeface="Helvetica Neue"/>
                <a:cs typeface="Helvetica Neue"/>
              </a:defRPr>
            </a:pPr>
            <a:r>
              <a:rPr sz="4200" b="1">
                <a:solidFill>
                  <a:srgbClr val="D4EF86"/>
                </a:solidFill>
                <a:latin typeface="Helvetica Neue"/>
                <a:ea typeface="Helvetica Neue"/>
                <a:cs typeface="Helvetica Neue"/>
              </a:rPr>
              <a:t>01–03</a:t>
            </a:r>
          </a:p>
        </p:txBody>
      </p:sp>
      <p:sp>
        <p:nvSpPr>
          <p:cNvPr id="6" name="">
            <a:extLst xmlns:a="http://schemas.openxmlformats.org/drawingml/2006/main">
              <a:ext uri="{FF2B5EF4-FFF2-40B4-BE49-F238E27FC236}">
                <a16:creationId xmlns:a16="http://schemas.microsoft.com/office/drawing/2014/main" id="{FA1FBDDE-4901-43EA-B1CA-66A7F39DF2F7}"/>
              </a:ext>
            </a:extLst>
          </p:cNvPr>
          <p:cNvSpPr>
            <a:spLocks xmlns:a="http://schemas.openxmlformats.org/drawingml/2006/main" noGrp="1"/>
          </p:cNvSpPr>
          <p:nvPr/>
        </p:nvSpPr>
        <p:spPr>
          <a:xfrm xmlns:a="http://schemas.openxmlformats.org/drawingml/2006/main">
            <a:off x="609600" y="3076575"/>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FFFFF"/>
                </a:solidFill>
                <a:latin typeface="Helvetica Neue"/>
                <a:ea typeface="Helvetica Neue"/>
                <a:cs typeface="Helvetica Neue"/>
              </a:defRPr>
            </a:defPPr>
          </a:lstStyle>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Зоны и локальная</a:t>
            </a:r>
          </a:p>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разметка с разрешением</a:t>
            </a:r>
          </a:p>
        </p:txBody>
      </p:sp>
      <p:sp>
        <p:nvSpPr>
          <p:cNvPr id="7" name="">
            <a:extLst xmlns:a="http://schemas.openxmlformats.org/drawingml/2006/main">
              <a:ext uri="{FF2B5EF4-FFF2-40B4-BE49-F238E27FC236}">
                <a16:creationId xmlns:a16="http://schemas.microsoft.com/office/drawing/2014/main" id="{6E8CB4DB-31A1-4040-AED8-82B813E650B8}"/>
              </a:ext>
            </a:extLst>
          </p:cNvPr>
          <p:cNvSpPr>
            <a:spLocks xmlns:a="http://schemas.openxmlformats.org/drawingml/2006/main" noGrp="1"/>
          </p:cNvSpPr>
          <p:nvPr/>
        </p:nvSpPr>
        <p:spPr>
          <a:xfrm xmlns:a="http://schemas.openxmlformats.org/drawingml/2006/main">
            <a:off x="4467225" y="20383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D4EF86"/>
                </a:solidFill>
                <a:latin typeface="Helvetica Neue"/>
                <a:ea typeface="Helvetica Neue"/>
                <a:cs typeface="Helvetica Neue"/>
              </a:defRPr>
            </a:defPPr>
          </a:lstStyle>
          <a:p xmlns:a="http://schemas.openxmlformats.org/drawingml/2006/main">
            <a:pPr>
              <a:defRPr sz="4200" b="1">
                <a:solidFill>
                  <a:srgbClr val="D4EF86"/>
                </a:solidFill>
                <a:latin typeface="Helvetica Neue"/>
                <a:ea typeface="Helvetica Neue"/>
                <a:cs typeface="Helvetica Neue"/>
              </a:defRPr>
            </a:pPr>
            <a:r>
              <a:rPr sz="4200" b="1">
                <a:solidFill>
                  <a:srgbClr val="D4EF86"/>
                </a:solidFill>
                <a:latin typeface="Helvetica Neue"/>
                <a:ea typeface="Helvetica Neue"/>
                <a:cs typeface="Helvetica Neue"/>
              </a:rPr>
              <a:t>04–07</a:t>
            </a:r>
          </a:p>
        </p:txBody>
      </p:sp>
      <p:sp>
        <p:nvSpPr>
          <p:cNvPr id="8" name="">
            <a:extLst xmlns:a="http://schemas.openxmlformats.org/drawingml/2006/main">
              <a:ext uri="{FF2B5EF4-FFF2-40B4-BE49-F238E27FC236}">
                <a16:creationId xmlns:a16="http://schemas.microsoft.com/office/drawing/2014/main" id="{BD7281DD-8FD1-422D-83D7-0906A9EC8B4C}"/>
              </a:ext>
            </a:extLst>
          </p:cNvPr>
          <p:cNvSpPr>
            <a:spLocks xmlns:a="http://schemas.openxmlformats.org/drawingml/2006/main" noGrp="1"/>
          </p:cNvSpPr>
          <p:nvPr/>
        </p:nvSpPr>
        <p:spPr>
          <a:xfrm xmlns:a="http://schemas.openxmlformats.org/drawingml/2006/main">
            <a:off x="4467225" y="3076575"/>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FFFFF"/>
                </a:solidFill>
                <a:latin typeface="Helvetica Neue"/>
                <a:ea typeface="Helvetica Neue"/>
                <a:cs typeface="Helvetica Neue"/>
              </a:defRPr>
            </a:defPPr>
          </a:lstStyle>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Теневой режим</a:t>
            </a:r>
          </a:p>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и baseline процесса</a:t>
            </a:r>
          </a:p>
        </p:txBody>
      </p:sp>
      <p:sp>
        <p:nvSpPr>
          <p:cNvPr id="9" name="">
            <a:extLst xmlns:a="http://schemas.openxmlformats.org/drawingml/2006/main">
              <a:ext uri="{FF2B5EF4-FFF2-40B4-BE49-F238E27FC236}">
                <a16:creationId xmlns:a16="http://schemas.microsoft.com/office/drawing/2014/main" id="{7DFB180C-136D-40E7-8577-94663D204B85}"/>
              </a:ext>
            </a:extLst>
          </p:cNvPr>
          <p:cNvSpPr>
            <a:spLocks xmlns:a="http://schemas.openxmlformats.org/drawingml/2006/main" noGrp="1"/>
          </p:cNvSpPr>
          <p:nvPr/>
        </p:nvSpPr>
        <p:spPr>
          <a:xfrm xmlns:a="http://schemas.openxmlformats.org/drawingml/2006/main">
            <a:off x="8324850" y="20383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D4EF86"/>
                </a:solidFill>
                <a:latin typeface="Helvetica Neue"/>
                <a:ea typeface="Helvetica Neue"/>
                <a:cs typeface="Helvetica Neue"/>
              </a:defRPr>
            </a:defPPr>
          </a:lstStyle>
          <a:p xmlns:a="http://schemas.openxmlformats.org/drawingml/2006/main">
            <a:pPr>
              <a:defRPr sz="4200" b="1">
                <a:solidFill>
                  <a:srgbClr val="D4EF86"/>
                </a:solidFill>
                <a:latin typeface="Helvetica Neue"/>
                <a:ea typeface="Helvetica Neue"/>
                <a:cs typeface="Helvetica Neue"/>
              </a:defRPr>
            </a:pPr>
            <a:r>
              <a:rPr sz="4200" b="1">
                <a:solidFill>
                  <a:srgbClr val="D4EF86"/>
                </a:solidFill>
                <a:latin typeface="Helvetica Neue"/>
                <a:ea typeface="Helvetica Neue"/>
                <a:cs typeface="Helvetica Neue"/>
              </a:rPr>
              <a:t>08–14</a:t>
            </a:r>
          </a:p>
        </p:txBody>
      </p:sp>
      <p:sp>
        <p:nvSpPr>
          <p:cNvPr id="10" name="">
            <a:extLst xmlns:a="http://schemas.openxmlformats.org/drawingml/2006/main">
              <a:ext uri="{FF2B5EF4-FFF2-40B4-BE49-F238E27FC236}">
                <a16:creationId xmlns:a16="http://schemas.microsoft.com/office/drawing/2014/main" id="{1F9F42F6-16A2-4E08-A44D-2C1304DC9520}"/>
              </a:ext>
            </a:extLst>
          </p:cNvPr>
          <p:cNvSpPr>
            <a:spLocks xmlns:a="http://schemas.openxmlformats.org/drawingml/2006/main" noGrp="1"/>
          </p:cNvSpPr>
          <p:nvPr/>
        </p:nvSpPr>
        <p:spPr>
          <a:xfrm xmlns:a="http://schemas.openxmlformats.org/drawingml/2006/main">
            <a:off x="8324850" y="3076575"/>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FFFFF"/>
                </a:solidFill>
                <a:latin typeface="Helvetica Neue"/>
                <a:ea typeface="Helvetica Neue"/>
                <a:cs typeface="Helvetica Neue"/>
              </a:defRPr>
            </a:defPPr>
          </a:lstStyle>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Проверка с диспетчером</a:t>
            </a:r>
          </a:p>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и решение о расширении</a:t>
            </a:r>
          </a:p>
        </p:txBody>
      </p:sp>
      <p:sp>
        <p:nvSpPr>
          <p:cNvPr id="11" name="">
            <a:extLst xmlns:a="http://schemas.openxmlformats.org/drawingml/2006/main">
              <a:ext uri="{FF2B5EF4-FFF2-40B4-BE49-F238E27FC236}">
                <a16:creationId xmlns:a16="http://schemas.microsoft.com/office/drawing/2014/main" id="{B2E152D4-E626-4A35-8A97-3CFCCFAE8447}"/>
              </a:ext>
            </a:extLst>
          </p:cNvPr>
          <p:cNvSpPr>
            <a:spLocks xmlns:a="http://schemas.openxmlformats.org/drawingml/2006/main" noGrp="1"/>
          </p:cNvSpPr>
          <p:nvPr/>
        </p:nvSpPr>
        <p:spPr>
          <a:xfrm xmlns:a="http://schemas.openxmlformats.org/drawingml/2006/main">
            <a:off x="609600" y="5143500"/>
            <a:ext cx="10839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D4EF86"/>
                </a:solidFill>
                <a:latin typeface="Helvetica Neue"/>
                <a:ea typeface="Helvetica Neue"/>
                <a:cs typeface="Helvetica Neue"/>
              </a:defRPr>
            </a:defPPr>
          </a:lstStyle>
          <a:p xmlns:a="http://schemas.openxmlformats.org/drawingml/2006/main">
            <a:pPr>
              <a:defRPr sz="2025" b="0">
                <a:solidFill>
                  <a:srgbClr val="D4EF86"/>
                </a:solidFill>
                <a:latin typeface="Helvetica Neue"/>
                <a:ea typeface="Helvetica Neue"/>
                <a:cs typeface="Helvetica Neue"/>
              </a:defRPr>
            </a:pPr>
            <a:r>
              <a:rPr sz="2025" b="0">
                <a:solidFill>
                  <a:srgbClr val="D4EF86"/>
                </a:solidFill>
                <a:latin typeface="Helvetica Neue"/>
                <a:ea typeface="Helvetica Neue"/>
                <a:cs typeface="Helvetica Neue"/>
              </a:rPr>
              <a:t>Цели пилота: ≥95% точности принятых · ≥80% покрытия · −30% времени поиска</a:t>
            </a:r>
          </a:p>
        </p:txBody>
      </p:sp>
    </p:spTree>
    <p:extLst>
      <p:ext uri="{BB962C8B-B14F-4D97-AF65-F5344CB8AC3E}">
        <p14:creationId xmlns:p14="http://schemas.microsoft.com/office/powerpoint/2010/main" val="13582990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2026-10-11T06:45:02.2480000Z</dcterms:created>
  <dcterms:modified xsi:type="dcterms:W3CDTF">2026-10-11T06:45:02.2480000Z</dcterms:modified>
</coreProperties>
</file>