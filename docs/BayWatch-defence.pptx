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f82e08f7924460" /><Relationship Type="http://schemas.openxmlformats.org/officeDocument/2006/relationships/extended-properties" Target="/docProps/app.xml" Id="R97fe7158846548fa" /><Relationship Type="http://schemas.openxmlformats.org/officeDocument/2006/relationships/officeDocument" Target="/ppt/presentation.xml" Id="R7bffe323bafa4b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597394478e4662"/>
  </p:sldMasterIdLst>
  <p:notesMasterIdLst>
    <p:notesMasterId xmlns:r="http://schemas.openxmlformats.org/officeDocument/2006/relationships" r:id="R6108448cd68d445b"/>
  </p:notesMasterIdLst>
  <p:sldIdLst>
    <p:sldId xmlns:r="http://schemas.openxmlformats.org/officeDocument/2006/relationships" id="256" r:id="R6c02c22c52014a6f"/>
    <p:sldId xmlns:r="http://schemas.openxmlformats.org/officeDocument/2006/relationships" id="257" r:id="R368bf0e54bff40a1"/>
    <p:sldId xmlns:r="http://schemas.openxmlformats.org/officeDocument/2006/relationships" id="258" r:id="Ra99426605c184137"/>
    <p:sldId xmlns:r="http://schemas.openxmlformats.org/officeDocument/2006/relationships" id="259" r:id="R8221a4f1f6ae42c6"/>
    <p:sldId xmlns:r="http://schemas.openxmlformats.org/officeDocument/2006/relationships" id="260" r:id="Rb08a8262b6794375"/>
    <p:sldId xmlns:r="http://schemas.openxmlformats.org/officeDocument/2006/relationships" id="261" r:id="Ra4a46ac4c75d4b69"/>
    <p:sldId xmlns:r="http://schemas.openxmlformats.org/officeDocument/2006/relationships" id="262" r:id="Rd55e138c8c664fcc"/>
    <p:sldId xmlns:r="http://schemas.openxmlformats.org/officeDocument/2006/relationships" id="263" r:id="R2c25a84738a94344"/>
    <p:sldId xmlns:r="http://schemas.openxmlformats.org/officeDocument/2006/relationships" id="264" r:id="R81a2960a2ff34d2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86459745254bc7" /><Relationship Type="http://schemas.openxmlformats.org/officeDocument/2006/relationships/slideMaster" Target="/ppt/slideMasters/slideMaster1.xml" Id="Rea597394478e4662" /><Relationship Type="http://schemas.openxmlformats.org/officeDocument/2006/relationships/notesMaster" Target="/ppt/notesMasters/notesMaster1.xml" Id="R6108448cd68d445b" /><Relationship Type="http://schemas.openxmlformats.org/officeDocument/2006/relationships/presProps" Target="/ppt/presProps.xml" Id="R35efce5091374ff2" /><Relationship Type="http://schemas.openxmlformats.org/officeDocument/2006/relationships/tableStyles" Target="/ppt/tableStyles.xml" Id="R4cebd20d83e64fe1" /><Relationship Type="http://schemas.openxmlformats.org/officeDocument/2006/relationships/slide" Target="/ppt/slides/slide1.xml" Id="R6c02c22c52014a6f" /><Relationship Type="http://schemas.openxmlformats.org/officeDocument/2006/relationships/slide" Target="/ppt/slides/slide2.xml" Id="R368bf0e54bff40a1" /><Relationship Type="http://schemas.openxmlformats.org/officeDocument/2006/relationships/slide" Target="/ppt/slides/slide3.xml" Id="Ra99426605c184137" /><Relationship Type="http://schemas.openxmlformats.org/officeDocument/2006/relationships/slide" Target="/ppt/slides/slide4.xml" Id="R8221a4f1f6ae42c6" /><Relationship Type="http://schemas.openxmlformats.org/officeDocument/2006/relationships/slide" Target="/ppt/slides/slide5.xml" Id="Rb08a8262b6794375" /><Relationship Type="http://schemas.openxmlformats.org/officeDocument/2006/relationships/slide" Target="/ppt/slides/slide6.xml" Id="Ra4a46ac4c75d4b69" /><Relationship Type="http://schemas.openxmlformats.org/officeDocument/2006/relationships/slide" Target="/ppt/slides/slide7.xml" Id="Rd55e138c8c664fcc" /><Relationship Type="http://schemas.openxmlformats.org/officeDocument/2006/relationships/slide" Target="/ppt/slides/slide8.xml" Id="R2c25a84738a94344" /><Relationship Type="http://schemas.openxmlformats.org/officeDocument/2006/relationships/slide" Target="/ppt/slides/slide9.xml" Id="R81a2960a2ff34d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e953b5f5c249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68c71cca5644ec" /><Relationship Type="http://schemas.openxmlformats.org/officeDocument/2006/relationships/notesMaster" Target="/ppt/notesMasters/notesMaster1.xml" Id="Rb0b698de1cd445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69f0d7ef784dc2" /><Relationship Type="http://schemas.openxmlformats.org/officeDocument/2006/relationships/notesMaster" Target="/ppt/notesMasters/notesMaster1.xml" Id="R1380186f2b4f46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5637f4adb34fa9" /><Relationship Type="http://schemas.openxmlformats.org/officeDocument/2006/relationships/notesMaster" Target="/ppt/notesMasters/notesMaster1.xml" Id="R423059dccdee4bc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80bc047b774149" /><Relationship Type="http://schemas.openxmlformats.org/officeDocument/2006/relationships/notesMaster" Target="/ppt/notesMasters/notesMaster1.xml" Id="R51dd406f5b4c48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f84f83fadd4d35" /><Relationship Type="http://schemas.openxmlformats.org/officeDocument/2006/relationships/notesMaster" Target="/ppt/notesMasters/notesMaster1.xml" Id="Re900fde557644b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87034799f24422" /><Relationship Type="http://schemas.openxmlformats.org/officeDocument/2006/relationships/notesMaster" Target="/ppt/notesMasters/notesMaster1.xml" Id="Ra828ecee477346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0c9f3f0c504c33" /><Relationship Type="http://schemas.openxmlformats.org/officeDocument/2006/relationships/notesMaster" Target="/ppt/notesMasters/notesMaster1.xml" Id="R59e60497c04048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6d1c5d68e54f8d" /><Relationship Type="http://schemas.openxmlformats.org/officeDocument/2006/relationships/notesMaster" Target="/ppt/notesMasters/notesMaster1.xml" Id="R486980432c0e4b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7d889a3b4c4ed2" /><Relationship Type="http://schemas.openxmlformats.org/officeDocument/2006/relationships/notesMaster" Target="/ppt/notesMasters/notesMaster1.xml" Id="Rf552b479808144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0:00–0:35 (35 сек). Режим: Partner product. Это прототип для руководителя дилерской площадки. Партнёрство с BYD Royal Motors не заключено. Мы проверяем гипотезу: видимость занятости места помогает диспетчеру быстрее найти свободное место и проверить препятствие. Источник фото: PKLot, Almeida et al. 2015, CC BY 4.0; https://web.inf.ufpr.br/luizoliveira/research-interests/pklot/. Фото не является площадкой партнёра.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0:35–1:00 (25 сек). Проблема — гипотеза, не результат интервью. Сейчас диспетчер может проверять площадку вручную или просматривать видео. Предлагаем сократить повторные проверки: камера даёт состояние каждого места и список проверок. Владелец процесса отвечает за время поиска и число ложных задач. Метрики до/после проверим только в пилоте.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1:00–3:00 (120 сек). Открыть сайт. 0–25 сек: текущий кадр, счётчики, время. 25–70: загрузить кадр жюри, обвести 1–2 парковочных места, анализировать. Не обещать надёжность на произвольном ракурсе. 70–95: в проверке модели затемнить статичный кадр; показать отказ. 95–110: восстановить и экспортировать отчёт. 110–120: вернуться к слайдам. Если интернет недоступен: локальный сервер из README и уже скачанный репозиторий. На фото нельзя утверждать длительность стоянки.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3:00–3:50 (50 сек). В отличие от общего распознавания автомобилей мы решаем более узкую задачу: занятость заранее заданного места. HOG описывает форму и контуры, цветовые статистики дополняют сигнал. 224 признака, 48 ReLU нейронов, один выход. Adam + L2, эпоха и температура по валидации. Нет платных API или скрытых запросов к LLM. Три наблюдения стабилизируют видео, неуверенность сбрасывает таймер. Код и тест Python/JS совпадения в репозитории. Источники: ml/train.py, dist/vision.js, tests/vision.test.js.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3:50–4:35 (45 сек). 72/18/27 кадров и 3931/1007/1511 мест. Дни съёмки не пересекаются. F1 99.29, FP0 FN11; не говорите о гарантии отсутствия false positive. Кадры и места коррелируют. Baseline всегда свободно выбран по train:48.58 на test. При 20/80 покрытие98.94 точность принятых99.67; без quality gate. В отдельном исключении камеры worst84.46 на UFPR04. Это ограничивает переносимость и обосновывает пилот. Источники: dist/data/evaluation.json; dist/data/cross-camera.json; docs/dataset-manifest.json.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4:35–5:10 (35 сек). Измерено на Apple M5 в браузере Codex, macOS26.4.1: первоначальный кадр100 зон занял13ms, другой запуск19ms. Это единичные наблюдения, не p95. Декодирование и отрисовка вне таймера. Видео опрашивается около1Hz. Ночь и реальные местные автомобили не проверены; погода отсутствует в зеркале. Темнота/пересвет/низкая детализация отсекаются эвристиками, не всеми видами сбоев. Статический браузер не заменяет промышленный edge appliance. Источники: работающий UI; README Performance and cost.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5:10–6:10 (60 сек). Не выдавать расчет за ROI партнера. 80 проверок в день,1.5 минуты экономии,4доллара зачас,26 дней =208. Эксплуатационный резерв40:хостинг5,электричество5,сопровождение30; это допущения. При внедрении300 окупаемость1.79месяца. Уже существующие камера икомпьютер. Новое оборудование иинтеграция могут резко увеличить бюджет. Высвобождение времени не равно денежному потоку без изменения загрузки. На сайте все предположения редактируются.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6:10–6:40 (30 сек). Сегодня наш код повторить несложно. Не называем открытый датасет moat. Возможное будущее преимущество: согласованная локальная выборка ошибок, цикл проверки диспетчера и интеграция с конкретным процессом. Эти активы не созданы и потребуют пилота. Сейчас доказуемы работоспособность, собственная обученная модель и воспроизводимость.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6:40–7:00 (20 сек). День1-3: согласие, геометрия, разметка локальных изображений. День4-7: теневой режим, дневные и вечерние кадры, rain при наличии; вести baseline времени. День8-14: диспетчер с инструментом, независимая проверка. Цели:95%accepted accuracy при80%coverage,30% сокращения поиска; это цели. Завершить до7мин. В Q&amp;A открыть код features/predict, доказать отсутствие подачи labels в inference и объяснить84.5% на excludedcamera. Финальный сайт/репозиторий и commit см. docs/SUBMISSION.txt.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4694050323440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0cd6997f4841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2b2ab1089d4b5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ed523ee31146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1ec69b7a2c4f1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f2b9afb6ba43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BF788E1-CFEC-48C5-8635-E0A7A51646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D710F14-00C7-46F3-B371-E52DEFB83D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1503547-BD3E-4C56-AE73-7BE1237654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CFB7E57-FF4F-417A-A743-2F73463D47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50C0F01-818E-452E-8369-764C2EE232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3A0D964-D622-413B-B5D3-183A81EAE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1225AC-0D8E-4653-86DA-F69E642C26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3CCA7E4-CB1E-4C2F-BD2D-5403526146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6F0654-9048-4250-964E-45471E0554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092EA00-C377-408B-BDB4-EE5570BA42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46d71f951e41ca" /><Relationship Type="http://schemas.openxmlformats.org/officeDocument/2006/relationships/slideLayout" Target="/ppt/slideLayouts/slideLayout1.xml" Id="Rf50dc8c362dc4a3d" /><Relationship Type="http://schemas.openxmlformats.org/officeDocument/2006/relationships/slideLayout" Target="/ppt/slideLayouts/slideLayout2.xml" Id="R78ef267bc8e34b34" /><Relationship Type="http://schemas.openxmlformats.org/officeDocument/2006/relationships/slideLayout" Target="/ppt/slideLayouts/slideLayout3.xml" Id="Ref6040fa85b9441e" /><Relationship Type="http://schemas.openxmlformats.org/officeDocument/2006/relationships/slideLayout" Target="/ppt/slideLayouts/slideLayout4.xml" Id="R3b2bd327d6d74f89" /><Relationship Type="http://schemas.openxmlformats.org/officeDocument/2006/relationships/slideLayout" Target="/ppt/slideLayouts/slideLayout5.xml" Id="Rd7f64687409c402e" /><Relationship Type="http://schemas.openxmlformats.org/officeDocument/2006/relationships/slideLayout" Target="/ppt/slideLayouts/slideLayout6.xml" Id="R9f078d8aff104a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0dc8c362dc4a3d"/>
    <p:sldLayoutId xmlns:r="http://schemas.openxmlformats.org/officeDocument/2006/relationships" id="2147483650" r:id="R78ef267bc8e34b34"/>
    <p:sldLayoutId xmlns:r="http://schemas.openxmlformats.org/officeDocument/2006/relationships" id="2147483651" r:id="Ref6040fa85b9441e"/>
    <p:sldLayoutId xmlns:r="http://schemas.openxmlformats.org/officeDocument/2006/relationships" id="2147483652" r:id="R3b2bd327d6d74f89"/>
    <p:sldLayoutId xmlns:r="http://schemas.openxmlformats.org/officeDocument/2006/relationships" id="2147483653" r:id="Rd7f64687409c402e"/>
    <p:sldLayoutId xmlns:r="http://schemas.openxmlformats.org/officeDocument/2006/relationships" id="2147483654" r:id="R9f078d8aff104a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e92856584a423d" /><Relationship Type="http://schemas.openxmlformats.org/officeDocument/2006/relationships/image" Target="/ppt/media/image.jpeg" Id="R267f518a1d884b3c" /><Relationship Type="http://schemas.openxmlformats.org/officeDocument/2006/relationships/notesSlide" Target="/ppt/notesSlides/notesSlide1.xml" Id="R0667c3693f074f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dde99cd9764231" /><Relationship Type="http://schemas.openxmlformats.org/officeDocument/2006/relationships/notesSlide" Target="/ppt/notesSlides/notesSlide2.xml" Id="Rbceef202271d46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bc088c019247ca" /><Relationship Type="http://schemas.openxmlformats.org/officeDocument/2006/relationships/image" Target="/ppt/media/image2.jpeg" Id="R25665fbc5df747d6" /><Relationship Type="http://schemas.openxmlformats.org/officeDocument/2006/relationships/notesSlide" Target="/ppt/notesSlides/notesSlide3.xml" Id="Re7fabb9eaa8f4a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f1b1239a59496c" /><Relationship Type="http://schemas.openxmlformats.org/officeDocument/2006/relationships/notesSlide" Target="/ppt/notesSlides/notesSlide4.xml" Id="Rc694a43081ea4a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4adf39874b41b2" /><Relationship Type="http://schemas.openxmlformats.org/officeDocument/2006/relationships/notesSlide" Target="/ppt/notesSlides/notesSlide5.xml" Id="R1445370de1d344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2466c985ba4051" /><Relationship Type="http://schemas.openxmlformats.org/officeDocument/2006/relationships/notesSlide" Target="/ppt/notesSlides/notesSlide6.xml" Id="R0148190c40ed40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cc2f46e9dd45ed" /><Relationship Type="http://schemas.openxmlformats.org/officeDocument/2006/relationships/notesSlide" Target="/ppt/notesSlides/notesSlide7.xml" Id="R5130b5e36a934b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48f5139a584945" /><Relationship Type="http://schemas.openxmlformats.org/officeDocument/2006/relationships/notesSlide" Target="/ppt/notesSlides/notesSlide8.xml" Id="R66906dbcb4d74f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78ad67d99c474e" /><Relationship Type="http://schemas.openxmlformats.org/officeDocument/2006/relationships/notesSlide" Target="/ppt/notesSlides/notesSlide9.xml" Id="R2f122e442f8646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8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A680B5-B6A6-4A64-BA7C-13E9DFDE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54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04FE8-440C-4F19-8709-1405FF88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B5C8B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B5C8B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B5C8B9"/>
                </a:solidFill>
                <a:latin typeface="Helvetica Neue"/>
                <a:ea typeface="Helvetica Neue"/>
                <a:cs typeface="Helvetica Neue"/>
              </a:rPr>
              <a:t>BAYWATCH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03C5D8-5D59-4EAD-957A-20410B8B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5C8B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B5C8B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B5C8B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A761D0-0FE4-4987-A4BD-F144029F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23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rPr>
              <a:t>PARTNER PRODUCT · ПРЕДЛОЖЕНИЕ ПИЛОТА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16552-0AEF-405E-A8FC-5E0459DB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714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6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6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BayWatch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3B43D7-8D45-43DB-BD90-873EE239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0325"/>
            <a:ext cx="590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Занятость места →</a:t>
            </a:r>
          </a:p>
          <a:p xmlns:a="http://schemas.openxmlformats.org/drawingml/2006/main">
            <a:pPr>
              <a:defRPr sz="32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действие диспетчера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14D6A-AB90-44B4-9352-76B2DA2A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10075"/>
            <a:ext cx="590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BFD0C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BFD0C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BFD0C1"/>
                </a:solidFill>
                <a:latin typeface="Helvetica Neue"/>
                <a:ea typeface="Helvetica Neue"/>
                <a:cs typeface="Helvetica Neue"/>
              </a:rPr>
              <a:t>Потенциальный владелец процесса:</a:t>
            </a:r>
          </a:p>
          <a:p xmlns:a="http://schemas.openxmlformats.org/drawingml/2006/main">
            <a:pPr>
              <a:defRPr sz="1875" b="0">
                <a:solidFill>
                  <a:srgbClr val="BFD0C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BFD0C1"/>
                </a:solidFill>
                <a:latin typeface="Helvetica Neue"/>
                <a:ea typeface="Helvetica Neue"/>
                <a:cs typeface="Helvetica Neue"/>
              </a:rPr>
              <a:t>руководитель площадки BYD Royal Motors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3FCCE9-1508-4D77-BA40-CC040C53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595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0AC9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0AC9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90AC99"/>
                </a:solidFill>
                <a:latin typeface="Helvetica Neue"/>
                <a:ea typeface="Helvetica Neue"/>
                <a:cs typeface="Helvetica Neue"/>
              </a:rPr>
              <a:t>Партнёрство и эффект ещё не подтверждены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CA28B-B4E7-4259-A810-B9CBD68054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f518a1d884b3c"/>
          <a:stretch xmlns:a="http://schemas.openxmlformats.org/drawingml/2006/main"/>
        </p:blipFill>
        <p:spPr>
          <a:xfrm xmlns:a="http://schemas.openxmlformats.org/drawingml/2006/main">
            <a:off x="6943725" y="1891010"/>
            <a:ext cx="4638675" cy="260925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696E0-AD67-4364-98BA-B7944B66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648200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EF8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30144D-A338-4D47-9DB7-75F19FBC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772025"/>
            <a:ext cx="40100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Распознавание работает в браузере</a:t>
            </a:r>
          </a:p>
        </p:txBody>
      </p:sp>
    </p:spTree>
    <p:extLst>
      <p:ext uri="{BB962C8B-B14F-4D97-AF65-F5344CB8AC3E}">
        <p14:creationId xmlns:p14="http://schemas.microsoft.com/office/powerpoint/2010/main" val="2592223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8BBAA9-C915-4561-8BFC-B1773724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Диспетчеру нужно состояние места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FF79C8-4BBD-4999-8674-6BC43D01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D122D-D864-45F8-9F49-B99C478A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BAYWATCH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BB696-DC26-42EB-9A56-191DFBB1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047F0-AE98-4355-98FD-3DA40EDD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100B5-3566-407F-811C-52CD7A73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3286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188706-D629-4479-92A1-1A15AB28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Посмотреть кадр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256475-5839-4A61-B7C3-FF10758C7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Фиксированная камера</a:t>
            </a:r>
          </a:p>
          <a:p xmlns:a="http://schemas.openxmlformats.org/drawingml/2006/main">
            <a:pPr>
              <a:def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и известные зоны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3A21C-6004-43FE-B4DD-F9F253C5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76450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0CBA96-16F4-4B8E-BFF4-BA33EEBE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71775"/>
            <a:ext cx="3286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756881-86C0-478B-A952-FCFC407C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76575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Принять решение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D8129D-9367-45EF-961F-6DC33303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2905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Свободно, занято</a:t>
            </a:r>
          </a:p>
          <a:p xmlns:a="http://schemas.openxmlformats.org/drawingml/2006/main">
            <a:pPr>
              <a:def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или нужна проверка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259984-6D53-4990-86C4-659346E6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76450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9E9E71-1D20-45CD-9368-3EBD1490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71775"/>
            <a:ext cx="3286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D5771A-CF52-49AB-BF76-979686B5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76575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Выдать действие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7E081E-03AC-4B25-BFEC-71A1F4A9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2905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Проверить проезд</a:t>
            </a:r>
          </a:p>
          <a:p xmlns:a="http://schemas.openxmlformats.org/drawingml/2006/main">
            <a:pPr>
              <a:def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или долгую стоянку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D05EC3-DBE9-42B7-8871-7A3850A2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Гипотеза ценности: меньше обходов и поиска, больше времени на обслуживание</a:t>
            </a:r>
          </a:p>
        </p:txBody>
      </p:sp>
    </p:spTree>
    <p:extLst>
      <p:ext uri="{BB962C8B-B14F-4D97-AF65-F5344CB8AC3E}">
        <p14:creationId xmlns:p14="http://schemas.microsoft.com/office/powerpoint/2010/main" val="19879895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2F359D-F680-4A04-8624-8EE2A49B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Демо: кадр жюри → проверяемый результат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15124-5AEF-4A70-A06E-C8F71298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DB4BF4-0ACE-41AF-8D63-645E46A9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BAYWATCH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E44F44-E187-412E-A6AA-2F8B854C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ABA71-902A-4DFC-8D92-EA03302DD7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65fbc5df747d6"/>
          <a:stretch xmlns:a="http://schemas.openxmlformats.org/drawingml/2006/main"/>
        </p:blipFill>
        <p:spPr>
          <a:xfrm xmlns:a="http://schemas.openxmlformats.org/drawingml/2006/main">
            <a:off x="984726" y="1647825"/>
            <a:ext cx="3955099" cy="4362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DE754C-F8FF-4AAA-87D0-F7ECC5D3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6215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01  Загрузить свой кадр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8C2582-36E5-446A-BE99-77882CC6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7655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02  Обвести отдельные места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AF2FC9-B5AE-4A5C-8F52-3C1D3870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9095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03  Получить решение и 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E7CDE8-D9D6-4987-A357-BD451399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962525"/>
            <a:ext cx="5762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Затемнение должно приводить к проверке,</a:t>
            </a:r>
          </a:p>
          <a:p xmlns:a="http://schemas.openxmlformats.org/drawingml/2006/main">
            <a:pPr>
              <a:defRPr sz="1875" b="0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а не к уверенному ответу</a:t>
            </a:r>
          </a:p>
        </p:txBody>
      </p:sp>
    </p:spTree>
    <p:extLst>
      <p:ext uri="{BB962C8B-B14F-4D97-AF65-F5344CB8AC3E}">
        <p14:creationId xmlns:p14="http://schemas.microsoft.com/office/powerpoint/2010/main" val="1850203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4CB06D-E8AE-4F14-B4C8-BF0FC1A4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Модель обучена с нуля и работает локально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DD085D-F529-4EA8-ADE5-E51B5029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8AFC7C-0D98-4302-9025-8B43CE8A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BAYWATCH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F47C1-D833-4CD4-BB54-F7E536BA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CE7529-29AD-4F64-AC91-A83F21EA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32×32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F26AA-78FD-4C2D-8CC9-B2103198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RGB-кроп места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55585D-89BF-49F6-86DD-EBD541A3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047875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4E62F4-0928-43D8-BB4E-CF5F9C0E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9145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224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0317D8-B385-41BE-8CC7-9F48F84F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813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HOG + цвет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8112FB-168E-468D-B177-F22338E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47875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5FE19A-E9E5-45BE-BF18-3A88617A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145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48 →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11BE4B-0CCE-4196-AE07-A56020E6E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813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ReLU → sigmoid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8E86C2-D671-42D7-86C5-57A92975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47875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B3B6F9-3FBF-467E-B3FF-A29EDD70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145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3 кадра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503842-DECC-411C-8FF3-65A7021A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813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Подтверждение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4A7C03-9890-4741-B0DB-1705A64F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2F1922-7AB7-4B40-AF81-46289E9B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233 KiB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9F4863-0CC7-4AF2-AFF9-183DD3ED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веса в JSON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E1BF72-8A96-4173-BBAD-24E08C3B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910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7 / 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0530A3-14F8-49DC-96E8-2AB5775C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43475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тестов пройдено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7F3873-F711-48DF-9837-A4A07986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910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$0 / кадр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19DD10-8860-48BC-B6C1-E887B1E8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4347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только API-стоимость</a:t>
            </a:r>
          </a:p>
        </p:txBody>
      </p:sp>
    </p:spTree>
    <p:extLst>
      <p:ext uri="{BB962C8B-B14F-4D97-AF65-F5344CB8AC3E}">
        <p14:creationId xmlns:p14="http://schemas.microsoft.com/office/powerpoint/2010/main" val="20142768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808C34-F849-4C85-8395-B562103A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99,27% на тесте — для известных камер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F7521F-2F5A-4B8F-B634-2AAE291D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2F2C0A-C3DB-4409-81BD-F5B522E7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BAYWATCH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595CB3-CBAE-4D2E-B783-B271260D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E0B49-15A4-4226-990A-0AA26351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1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1 511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527312-09FB-4500-B8F9-1B36FFA1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371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мест · 27 тестовых кадров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3E87F0-67FF-4B89-91B0-C7CF5093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52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Новые дни съёмки</a:t>
            </a:r>
          </a:p>
          <a:p xmlns:a="http://schemas.openxmlformats.org/drawingml/2006/main">
            <a:pPr>
              <a:defRPr sz="2100" b="0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Те же три камеры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D78EF2-0ECA-4532-BA04-C81CF1BB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381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CA7B4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A7B4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CA7B49"/>
                </a:solidFill>
                <a:latin typeface="Helvetica Neue"/>
                <a:ea typeface="Helvetica Neue"/>
                <a:cs typeface="Helvetica Neue"/>
              </a:rPr>
              <a:t>При исключении камеры:</a:t>
            </a:r>
          </a:p>
          <a:p xmlns:a="http://schemas.openxmlformats.org/drawingml/2006/main">
            <a:pPr>
              <a:defRPr sz="1950" b="1">
                <a:solidFill>
                  <a:srgbClr val="CA7B4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CA7B49"/>
                </a:solidFill>
                <a:latin typeface="Helvetica Neue"/>
                <a:ea typeface="Helvetica Neue"/>
                <a:cs typeface="Helvetica Neue"/>
              </a:rPr>
              <a:t>худший результат 84,46%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BF972A-1D9E-4F1C-8A11-8D6DB80243D5}"/>
              </a:ext>
            </a:extLst>
          </p:cNvPr>
          <p:cNvGraphicFramePr/>
          <p:nvPr/>
        </p:nvGraphicFramePr>
        <p:xfrm>
          <a:off xmlns:a="http://schemas.openxmlformats.org/drawingml/2006/main" x="4810125" y="1771650"/>
          <a:ext xmlns:a="http://schemas.openxmlformats.org/drawingml/2006/main" cx="6781800" cy="3371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3305175"/>
              </a:tblGrid>
              <a:tr h="56197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Показатель</a:t>
                      </a:r>
                    </a:p>
                  </a:txBody>
                  <a:tcPr marL="91440" marR="91440" marT="45720" marB="45720">
                    <a:solidFill>
                      <a:srgbClr val="166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Результат</a:t>
                      </a:r>
                    </a:p>
                  </a:txBody>
                  <a:tcPr marL="91440" marR="91440" marT="45720" marB="45720">
                    <a:solidFill>
                      <a:srgbClr val="16664B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Accuracy / F1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99,27% / 99,29%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Ошибки FP / FN</a:t>
                      </a:r>
                    </a:p>
                  </a:txBody>
                  <a:tcPr marL="91440" marR="91440" marT="45720" marB="45720">
                    <a:solidFill>
                      <a:srgbClr val="EB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 / 11</a:t>
                      </a:r>
                    </a:p>
                  </a:txBody>
                  <a:tcPr marL="91440" marR="91440" marT="45720" marB="45720">
                    <a:solidFill>
                      <a:srgbClr val="EBF0E5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Baseline accuracy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48,58%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Покрытие 20/80</a:t>
                      </a:r>
                    </a:p>
                  </a:txBody>
                  <a:tcPr marL="91440" marR="91440" marT="45720" marB="45720">
                    <a:solidFill>
                      <a:srgbClr val="EB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98,94%</a:t>
                      </a:r>
                    </a:p>
                  </a:txBody>
                  <a:tcPr marL="91440" marR="91440" marT="45720" marB="45720">
                    <a:solidFill>
                      <a:srgbClr val="EBF0E5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Точность принятых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99,67%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CDF3A-D204-4D5D-83B2-B0778066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39115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Порог 0,5 для полного теста. 20/80 — отказ по оценке модели.</a:t>
            </a:r>
          </a:p>
          <a:p xmlns:a="http://schemas.openxmlformats.org/drawingml/2006/main">
            <a:pPr>
              <a:defRPr sz="13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Фильтр качества в эти цифры не входит.</a:t>
            </a:r>
          </a:p>
        </p:txBody>
      </p:sp>
    </p:spTree>
    <p:extLst>
      <p:ext uri="{BB962C8B-B14F-4D97-AF65-F5344CB8AC3E}">
        <p14:creationId xmlns:p14="http://schemas.microsoft.com/office/powerpoint/2010/main" val="2515394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035A8-8616-4285-B376-BE1F1798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Измеряем скорость и признаём ограничения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C81B5D-72B4-402E-9265-085703A4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688A1-B987-455E-B1BD-E62D0DB9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BAYWATCH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7C012C-B5FB-4659-8F92-02C3DD17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D9EF9B-C219-4CD4-816A-0AC661CD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0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50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50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13–19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FA8498-0635-42F2-A799-14B18638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7626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наблюдения для 100 зон · Apple M5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F45C17-DFA1-46BB-8107-670938AA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334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Признаки + модель + правила</a:t>
            </a:r>
          </a:p>
          <a:p xmlns:a="http://schemas.openxmlformats.org/drawingml/2006/main">
            <a:pPr>
              <a:defRPr sz="2175" b="0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Без загрузки и отрисовки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BF132-272F-42D3-86A6-ECBF5E150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561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Скорость на устройстве жюри видна в UI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3FECC-74C8-4DA7-9425-1B6CF6C0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1809750"/>
            <a:ext cx="190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CF88A6-28FD-45A7-A264-5F47BC2F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47850"/>
            <a:ext cx="4143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Не доказано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A0913-C763-4C5B-87CA-C51ECAB2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828925"/>
            <a:ext cx="429577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Ночь и сильный дождь</a:t>
            </a:r>
          </a:p>
          <a:p xmlns:a="http://schemas.openxmlformats.org/drawingml/2006/main">
            <a:pPr>
              <a:defRPr sz="20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Локальные Toyota / BYD / Ducati</a:t>
            </a:r>
          </a:p>
          <a:p xmlns:a="http://schemas.openxmlformats.org/drawingml/2006/main">
            <a:pPr>
              <a:defRPr sz="20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Новый ракурс без калибровки</a:t>
            </a:r>
          </a:p>
          <a:p xmlns:a="http://schemas.openxmlformats.org/drawingml/2006/main">
            <a:pPr>
              <a:defRPr sz="20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Работа 24/7 в фоне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47478A-8022-45FB-8793-2A74D285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40067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CA7B4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CA7B4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CA7B49"/>
                </a:solidFill>
                <a:latin typeface="Helvetica Neue"/>
                <a:ea typeface="Helvetica Neue"/>
                <a:cs typeface="Helvetica Neue"/>
              </a:rPr>
              <a:t>Занято ≠ заряжается</a:t>
            </a:r>
          </a:p>
        </p:txBody>
      </p:sp>
    </p:spTree>
    <p:extLst>
      <p:ext uri="{BB962C8B-B14F-4D97-AF65-F5344CB8AC3E}">
        <p14:creationId xmlns:p14="http://schemas.microsoft.com/office/powerpoint/2010/main" val="18365742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83772-B1EF-4575-AAE4-7D6DD5B22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$168 / месяц — сценарий, который надо проверить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A115D-58BE-4D35-8A67-553DD6CE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950D3C-4E00-4782-B7F9-84C133C5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BAYWATCH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7CA86B-C10D-4996-8224-04E8BA63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21DE7-26E5-47DE-B2AD-FEE6D0AF8209}"/>
              </a:ext>
            </a:extLst>
          </p:cNvPr>
          <p:cNvGraphicFramePr/>
          <p:nvPr/>
        </p:nvGraphicFramePr>
        <p:xfrm>
          <a:off xmlns:a="http://schemas.openxmlformats.org/drawingml/2006/main" x="609600" y="1771650"/>
          <a:ext xmlns:a="http://schemas.openxmlformats.org/drawingml/2006/main" cx="5524500" cy="31527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90925"/>
                <a:gridCol w="1933575"/>
              </a:tblGrid>
              <a:tr h="63055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Допущение</a:t>
                      </a:r>
                    </a:p>
                  </a:txBody>
                  <a:tcPr marL="91440" marR="91440" marT="45720" marB="45720">
                    <a:solidFill>
                      <a:srgbClr val="166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Значение</a:t>
                      </a:r>
                    </a:p>
                  </a:txBody>
                  <a:tcPr marL="91440" marR="91440" marT="45720" marB="45720">
                    <a:solidFill>
                      <a:srgbClr val="16664B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Проверок / день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Экономия / проверку</a:t>
                      </a:r>
                    </a:p>
                  </a:txBody>
                  <a:tcPr marL="91440" marR="91440" marT="45720" marB="45720">
                    <a:solidFill>
                      <a:srgbClr val="EB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1,5 минуты</a:t>
                      </a:r>
                    </a:p>
                  </a:txBody>
                  <a:tcPr marL="91440" marR="91440" marT="45720" marB="45720">
                    <a:solidFill>
                      <a:srgbClr val="EBF0E5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Час сотрудника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Рабочих дней / месяц</a:t>
                      </a:r>
                    </a:p>
                  </a:txBody>
                  <a:tcPr marL="91440" marR="91440" marT="45720" marB="45720">
                    <a:solidFill>
                      <a:srgbClr val="EB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638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26</a:t>
                      </a:r>
                    </a:p>
                  </a:txBody>
                  <a:tcPr marL="91440" marR="91440" marT="45720" marB="45720">
                    <a:solidFill>
                      <a:srgbClr val="EBF0E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B7B0B8-53AF-417B-A48D-5F9B3428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81175"/>
            <a:ext cx="4191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4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44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425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$208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E1AC2A-5C94-4355-AFED-8CC12399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09850"/>
            <a:ext cx="4362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эквивалент времени / месяц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81A4FA-CEDC-4574-93F4-9BE5D26C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95650"/>
            <a:ext cx="4191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− $40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803546-D228-4074-8394-046EB1BF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38600"/>
            <a:ext cx="44481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резерв на эксплуатацию / месяц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68F29B-3E77-4C04-AFA4-99D1B6C6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668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$300 / $168 = 1,79 мес.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ECD77A-D2A1-4308-AC7F-046923E3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Сценарий: существующие камера и компьютер; оборудование и интеграции сверх этого</a:t>
            </a:r>
          </a:p>
        </p:txBody>
      </p:sp>
    </p:spTree>
    <p:extLst>
      <p:ext uri="{BB962C8B-B14F-4D97-AF65-F5344CB8AC3E}">
        <p14:creationId xmlns:p14="http://schemas.microsoft.com/office/powerpoint/2010/main" val="20179791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AD0DAF-BF26-47E9-9A70-7A68D2C7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Код открыт. Защиту от копирования ещё надо создать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6BC1F-3C2B-411B-A9D9-3341EA74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6D37D-2115-441F-BC62-F4E0703E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BAYWATCH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4E059-95FF-4887-BFF3-EE7214CD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DC5D8-EC1B-4986-9D43-98173D6B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6382B"/>
                </a:solidFill>
                <a:latin typeface="Helvetica Neue"/>
                <a:ea typeface="Helvetica Neue"/>
                <a:cs typeface="Helvetica Neue"/>
              </a:rPr>
              <a:t>Сейчас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16A9D-437A-4BB1-B98B-5417EFDF1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5143500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Рабочий прототип</a:t>
            </a:r>
          </a:p>
          <a:p xmlns:a="http://schemas.openxmlformats.org/drawingml/2006/main">
            <a:pPr>
              <a:def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Обучение и тест воспроизводимы</a:t>
            </a:r>
          </a:p>
          <a:p xmlns:a="http://schemas.openxmlformats.org/drawingml/2006/main">
            <a:pPr>
              <a:def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Низкая стоимость вычисления</a:t>
            </a:r>
          </a:p>
          <a:p xmlns:a="http://schemas.openxmlformats.org/drawingml/2006/main">
            <a:pPr>
              <a:def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Нет подтверждённого moat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B85CE1-4A0F-463F-9940-28D14BC4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876425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D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8E9B5-A90D-4F86-BDF6-1D581DA4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952625"/>
            <a:ext cx="4819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6664B"/>
                </a:solidFill>
                <a:latin typeface="Helvetica Neue"/>
                <a:ea typeface="Helvetica Neue"/>
                <a:cs typeface="Helvetica Neue"/>
              </a:rPr>
              <a:t>После успешного пилота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EE4C45-00E9-4416-97D8-9351F02C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924175"/>
            <a:ext cx="4857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Разрешённые локальные данные</a:t>
            </a:r>
          </a:p>
          <a:p xmlns:a="http://schemas.openxmlformats.org/drawingml/2006/main">
            <a:pPr>
              <a:def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Разбор ошибок сотрудниками</a:t>
            </a:r>
          </a:p>
          <a:p xmlns:a="http://schemas.openxmlformats.org/drawingml/2006/main">
            <a:pPr>
              <a:def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Интеграция в рабочий процесс</a:t>
            </a:r>
          </a:p>
          <a:p xmlns:a="http://schemas.openxmlformats.org/drawingml/2006/main">
            <a:pPr>
              <a:def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F8076"/>
                </a:solidFill>
                <a:latin typeface="Helvetica Neue"/>
                <a:ea typeface="Helvetica Neue"/>
                <a:cs typeface="Helvetica Neue"/>
              </a:rPr>
              <a:t>Измеренный эффект на площадке</a:t>
            </a:r>
          </a:p>
        </p:txBody>
      </p:sp>
    </p:spTree>
    <p:extLst>
      <p:ext uri="{BB962C8B-B14F-4D97-AF65-F5344CB8AC3E}">
        <p14:creationId xmlns:p14="http://schemas.microsoft.com/office/powerpoint/2010/main" val="20387737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638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D0F5B0-65D5-4D79-9386-DE0F82DA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Следующий шаг — 14 дней на одной камере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6E739C-D401-46D7-A174-2B7007FF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54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5C806-5D8F-469B-B307-23775107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B5C8B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B5C8B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B5C8B9"/>
                </a:solidFill>
                <a:latin typeface="Helvetica Neue"/>
                <a:ea typeface="Helvetica Neue"/>
                <a:cs typeface="Helvetica Neue"/>
              </a:rPr>
              <a:t>BAYWATCH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850552-444A-40A1-B44E-B13CB61E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5C8B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B5C8B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B5C8B9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7A4455-9045-4411-A066-D364B0C3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200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rPr>
              <a:t>01–03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088D57-5342-435C-AFF9-E679ABF9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Зоны и локальная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разметка с разрешением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B83AF6-1DCC-47AA-A26A-7D0CD06A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038350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200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rPr>
              <a:t>04–07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381D3-BE5F-4D4A-8534-DF064A10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0765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Теневой режим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и baseline процесса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A61D08-14BC-47CC-8B2E-D9864605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38350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200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D4EF86"/>
                </a:solidFill>
                <a:latin typeface="Helvetica Neue"/>
                <a:ea typeface="Helvetica Neue"/>
                <a:cs typeface="Helvetica Neue"/>
              </a:rPr>
              <a:t>08–14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3681E8-909A-4D7A-B8D7-914F20D4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765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Проверка с диспетчером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и решение о расширении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94C697-2FD2-4EC9-A174-9DC6D576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839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D4EF86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D4EF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D4EF86"/>
                </a:solidFill>
                <a:latin typeface="Helvetica Neue"/>
                <a:ea typeface="Helvetica Neue"/>
                <a:cs typeface="Helvetica Neue"/>
              </a:rPr>
              <a:t>Цели пилота: ≥95% точности принятых · ≥80% покрытия · −30% времени поиска</a:t>
            </a:r>
          </a:p>
        </p:txBody>
      </p:sp>
    </p:spTree>
    <p:extLst>
      <p:ext uri="{BB962C8B-B14F-4D97-AF65-F5344CB8AC3E}">
        <p14:creationId xmlns:p14="http://schemas.microsoft.com/office/powerpoint/2010/main" val="19808987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2026-10-11T06:28:44.0440000Z</dcterms:created>
  <dcterms:modified xsi:type="dcterms:W3CDTF">2026-10-11T06:28:44.0440000Z</dcterms:modified>
</coreProperties>
</file>